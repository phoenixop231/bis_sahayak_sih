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2cfbfe93f84d7e" /><Relationship Type="http://schemas.openxmlformats.org/officeDocument/2006/relationships/extended-properties" Target="/docProps/app.xml" Id="R3b4cd82f39214e9c" /><Relationship Type="http://schemas.openxmlformats.org/officeDocument/2006/relationships/officeDocument" Target="/ppt/presentation.xml" Id="Ra8427a7aecd146e6" /></Relationships>
</file>

<file path=ppt/presentation.xml><?xml version="1.0" encoding="utf-8"?>
<p:presentation xmlns:p="http://schemas.openxmlformats.org/presentationml/2006/main">
  <p:sldMasterIdLst>
    <p:sldMasterId xmlns:r="http://schemas.openxmlformats.org/officeDocument/2006/relationships" id="2147483648" r:id="Rfb8cbffa80ca4eb6"/>
  </p:sldMasterIdLst>
  <p:notesMasterIdLst>
    <p:notesMasterId xmlns:r="http://schemas.openxmlformats.org/officeDocument/2006/relationships" r:id="Rafcce154d63c46a2"/>
  </p:notesMasterIdLst>
  <p:sldIdLst>
    <p:sldId xmlns:r="http://schemas.openxmlformats.org/officeDocument/2006/relationships" id="256" r:id="R486ad985c5144084"/>
    <p:sldId xmlns:r="http://schemas.openxmlformats.org/officeDocument/2006/relationships" id="257" r:id="Rad36c3d43b24498c"/>
    <p:sldId xmlns:r="http://schemas.openxmlformats.org/officeDocument/2006/relationships" id="258" r:id="R2bafee8ec4f24c72"/>
    <p:sldId xmlns:r="http://schemas.openxmlformats.org/officeDocument/2006/relationships" id="259" r:id="R92b61df4a1d94219"/>
    <p:sldId xmlns:r="http://schemas.openxmlformats.org/officeDocument/2006/relationships" id="260" r:id="R82b49a77f8b44f4b"/>
    <p:sldId xmlns:r="http://schemas.openxmlformats.org/officeDocument/2006/relationships" id="261" r:id="R1c8de6b202eb4a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afc9cb84e1944cf" /><Relationship Type="http://schemas.openxmlformats.org/officeDocument/2006/relationships/slideMaster" Target="/ppt/slideMasters/slideMaster1.xml" Id="Rfb8cbffa80ca4eb6" /><Relationship Type="http://schemas.openxmlformats.org/officeDocument/2006/relationships/notesMaster" Target="/ppt/notesMasters/notesMaster1.xml" Id="Rafcce154d63c46a2" /><Relationship Type="http://schemas.openxmlformats.org/officeDocument/2006/relationships/presProps" Target="/ppt/presProps.xml" Id="R83e767349c0f4f7e" /><Relationship Type="http://schemas.openxmlformats.org/officeDocument/2006/relationships/viewProps" Target="/ppt/viewProps.xml" Id="Rfd70e3da5f9d4d6c" /><Relationship Type="http://schemas.openxmlformats.org/officeDocument/2006/relationships/tableStyles" Target="/ppt/tableStyles.xml" Id="R51b6e1654e5e4dea" /><Relationship Type="http://schemas.openxmlformats.org/officeDocument/2006/relationships/slide" Target="/ppt/slides/slide1.xml" Id="R486ad985c5144084" /><Relationship Type="http://schemas.openxmlformats.org/officeDocument/2006/relationships/slide" Target="/ppt/slides/slide2.xml" Id="Rad36c3d43b24498c" /><Relationship Type="http://schemas.openxmlformats.org/officeDocument/2006/relationships/slide" Target="/ppt/slides/slide3.xml" Id="R2bafee8ec4f24c72" /><Relationship Type="http://schemas.openxmlformats.org/officeDocument/2006/relationships/slide" Target="/ppt/slides/slide4.xml" Id="R92b61df4a1d94219" /><Relationship Type="http://schemas.openxmlformats.org/officeDocument/2006/relationships/slide" Target="/ppt/slides/slide5.xml" Id="R82b49a77f8b44f4b" /><Relationship Type="http://schemas.openxmlformats.org/officeDocument/2006/relationships/slide" Target="/ppt/slides/slide6.xml" Id="R1c8de6b202eb4a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9923a12b2d44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2722dec3e3476e" /><Relationship Type="http://schemas.openxmlformats.org/officeDocument/2006/relationships/notesMaster" Target="/ppt/notesMasters/notesMaster1.xml" Id="R64538dd1606749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942a5cc4c0459a" /><Relationship Type="http://schemas.openxmlformats.org/officeDocument/2006/relationships/notesMaster" Target="/ppt/notesMasters/notesMaster1.xml" Id="Rcdea97cdabf749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83009997eb401e" /><Relationship Type="http://schemas.openxmlformats.org/officeDocument/2006/relationships/notesMaster" Target="/ppt/notesMasters/notesMaster1.xml" Id="Rb71569fa5b644b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ddb867393e4147" /><Relationship Type="http://schemas.openxmlformats.org/officeDocument/2006/relationships/notesMaster" Target="/ppt/notesMasters/notesMaster1.xml" Id="Reaab26becb4f41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50932234bc4753" /><Relationship Type="http://schemas.openxmlformats.org/officeDocument/2006/relationships/notesMaster" Target="/ppt/notesMasters/notesMaster1.xml" Id="R6224c1efa1a64a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4cfc73349e4450" /><Relationship Type="http://schemas.openxmlformats.org/officeDocument/2006/relationships/notesMaster" Target="/ppt/notesMasters/notesMaster1.xml" Id="R82b880b6c55643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(35 seconds)</a:t>
            </a:r>
          </a:p>
          <a:p xmlns:a="http://schemas.openxmlformats.org/drawingml/2006/main">
            <a:r>
              <a:t>A consumer sees an ISI mark but needs help understanding what to check. An MSME needs the applicable standard and testing requirements. BIS Sahayak gives each a different explanation, with references they can inspect. We are Logic Lords, presenting a working prototype for SIH26107.</a:t>
            </a:r>
          </a:p>
          <a:p xmlns:a="http://schemas.openxmlformats.org/drawingml/2006/main">
            <a:r>
              <a:t>Registration: Team ID is still missing. The secondary listing https://sih2026.vuce.in/ps/SIH26107 identifies Smart Automation and the longer problem title, but confirm both in the official team portal before submission.</a:t>
            </a:r>
          </a:p>
          <a:p xmlns:a="http://schemas.openxmlformats.org/drawingml/2006/main">
            <a:r>
              <a:t>Prototype: https://sih2026-bis-assistant.vercel.app/#chat</a:t>
            </a:r>
          </a:p>
          <a:p xmlns:a="http://schemas.openxmlformats.org/drawingml/2006/main">
            <a:r>
              <a:t>This independent student prototype does not imply BIS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Solution (55 seconds)</a:t>
            </a:r>
            <a:endParaRPr/>
          </a:p>
          <a:p xmlns:a="http://schemas.openxmlformats.org/drawingml/2006/main">
            <a:pPr>
              <a:spcBef>
                <a:spcPct val="0"/>
              </a:spcBef>
              <a:buNone/>
            </a:pPr>
            <a:r>
              <a:t>Consumers and MSMEs often need a practical next step, not a long portal search. The prototype supports consumer and industry modes, Hindi and English, browser audio playback, a standards directory, citations, hallmarking, labs, schemes, licensing guidance and CM/L format checks.</a:t>
            </a:r>
            <a:endParaRPr/>
          </a:p>
          <a:p xmlns:a="http://schemas.openxmlformats.org/drawingml/2006/main">
            <a:pPr>
              <a:spcBef>
                <a:spcPct val="0"/>
              </a:spcBef>
              <a:buNone/>
            </a:pPr>
            <a:r>
              <a:t>Demo: ask the pressure-cooker sample question. Open the IS 2347 citation drawer. Then enter a number absent from the local demo licence dataset and show the official BIS Care handoff.</a:t>
            </a:r>
            <a:endParaRPr/>
          </a:p>
          <a:p xmlns:a="http://schemas.openxmlformats.org/drawingml/2006/main">
            <a:pPr>
              <a:spcBef>
                <a:spcPct val="0"/>
              </a:spcBef>
              <a:buNone/>
            </a:pPr>
            <a:r>
              <a:t>The slide illustration is AI-generated and conceptual. It is not a screenshot or evidence of adoption. The live URL is the working prototype.</a:t>
            </a:r>
            <a:endParaRPr/>
          </a:p>
          <a:p xmlns:a="http://schemas.openxmlformats.org/drawingml/2006/main">
            <a:pPr>
              <a:spcBef>
                <a:spcPct val="0"/>
              </a:spcBef>
              <a:buNone/>
            </a:pPr>
            <a:r>
              <a:t>Differentiation: BIS already provides standards search, licence details and laboratory information. Our contribution is task-oriented explanation with an inspectable reference and official next action.</a:t>
            </a:r>
            <a:endParaRPr/>
          </a:p>
          <a:p xmlns:a="http://schemas.openxmlformats.org/drawingml/2006/main">
            <a:pPr>
              <a:spcBef>
                <a:spcPct val="0"/>
              </a:spcBef>
              <a:buNone/>
            </a:pPr>
            <a:r>
              <a:t>Sources: https://www.bis.gov.in/know-your-standard/?lang=en ; https://www.bis.gov.in/bis-apps/?lang=en ; current project components and data/standards.</a:t>
            </a:r>
            <a:endParaRPr/>
          </a:p>
          <a:p xmlns:a="http://schemas.openxmlformats.org/drawingml/2006/main">
            <a:pPr>
              <a:spcBef>
                <a:spcPct val="0"/>
              </a:spcBef>
              <a:buNone/>
            </a:pPr>
            <a:r>
              <a:t>The records are demonstration summaries, not an authorised full-text BIS corpus. No guarantee against model error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Technical approach (60 seconds)</a:t>
            </a:r>
            <a:endParaRPr/>
          </a:p>
          <a:p xmlns:a="http://schemas.openxmlformats.org/drawingml/2006/main">
            <a:pPr>
              <a:spcBef>
                <a:spcPct val="0"/>
              </a:spcBef>
              <a:buNone/>
            </a:pPr>
            <a:r>
              <a:t>In the current code, generateEmbedding makes 768-dimensional hashed word vectors. searchHybridStandards combines cosine similarity with domain-weighted keyword scores and selects up to five chunks. These are locally indexed demonstration summaries, not official full-text standards or a production pgvector search.</a:t>
            </a:r>
            <a:endParaRPr/>
          </a:p>
          <a:p xmlns:a="http://schemas.openxmlformats.org/drawingml/2006/main">
            <a:pPr>
              <a:spcBef>
                <a:spcPct val="0"/>
              </a:spcBef>
              <a:buNone/>
            </a:pPr>
            <a:r>
              <a:t>The answer routine passes retrieved context with mode and language instructions to Gemini 3.5 Flash-Lite. It returns a deterministic conversational fallback when the external model is unavailable. The live API response exposes a fallback flag, although the UI does not currently show it.</a:t>
            </a:r>
            <a:endParaRPr/>
          </a:p>
          <a:p xmlns:a="http://schemas.openxmlformats.org/drawingml/2006/main">
            <a:pPr>
              <a:spcBef>
                <a:spcPct val="0"/>
              </a:spcBef>
              <a:buNone/>
            </a:pPr>
            <a:r>
              <a:t>Scaling proposal: authorised document ingestion, versioned sources, multilingual retrieval evaluation and only then a production vector store. This needs BIS data access and independent testing.</a:t>
            </a:r>
            <a:endParaRPr/>
          </a:p>
          <a:p xmlns:a="http://schemas.openxmlformats.org/drawingml/2006/main">
            <a:pPr>
              <a:spcBef>
                <a:spcPct val="0"/>
              </a:spcBef>
              <a:buNone/>
            </a:pPr>
            <a:r>
              <a:t>Evidence: lib/vector-store.ts, lib/gemini.ts, app/api/chat/route.ts, package.json.</a:t>
            </a:r>
            <a:endParaRPr/>
          </a:p>
          <a:p xmlns:a="http://schemas.openxmlformats.org/drawingml/2006/main">
            <a:pPr>
              <a:spcBef>
                <a:spcPct val="0"/>
              </a:spcBef>
              <a:buNone/>
            </a:pPr>
            <a:r>
              <a:t>RAG research: Lewis et al. (2020), https://arxiv.org/abs/2005.11401 . This paper motivates the pattern, not the quality of this implementation.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(60 seconds)</a:t>
            </a:r>
            <a:endParaRPr/>
          </a:p>
          <a:p xmlns:a="http://schemas.openxmlformats.org/drawingml/2006/main">
            <a:pPr>
              <a:spcBef>
                <a:spcPct val="0"/>
              </a:spcBef>
              <a:buNone/>
            </a:pPr>
            <a:r>
              <a:t>The public prototype is deployed. On 26 September 2026, four test suites and 32 tests passed locally, as did lint and production build. A production dependency audit reported zero vulnerabilities. These are implementation checks, not proof of regulatory accuracy, national scale or real-world impact.</a:t>
            </a:r>
            <a:endParaRPr/>
          </a:p>
          <a:p xmlns:a="http://schemas.openxmlformats.org/drawingml/2006/main">
            <a:pPr>
              <a:spcBef>
                <a:spcPct val="0"/>
              </a:spcBef>
              <a:buNone/>
            </a:pPr>
            <a:r>
              <a:t>Risks: incorrect or stale clauses, incomplete licence coverage, AI availability and per-request cost. The controls shown are proposed for a pilot. A local demo licence match is never official certification. An unknown number never proves counterfeit goods. Verify current status through BIS Care or e-BIS.</a:t>
            </a:r>
            <a:endParaRPr/>
          </a:p>
          <a:p xmlns:a="http://schemas.openxmlformats.org/drawingml/2006/main">
            <a:pPr>
              <a:spcBef>
                <a:spcPct val="0"/>
              </a:spcBef>
              <a:buNone/>
            </a:pPr>
            <a:r>
              <a:t>Six-week proposal: audit permissions and source versions with a BIS reviewer, test real user tasks, then report baseline comparisons. Roles required: domain review, data engineering, application/accessibility and testing.</a:t>
            </a:r>
            <a:endParaRPr/>
          </a:p>
          <a:p xmlns:a="http://schemas.openxmlformats.org/drawingml/2006/main">
            <a:pPr>
              <a:spcBef>
                <a:spcPct val="0"/>
              </a:spcBef>
              <a:buNone/>
            </a:pPr>
            <a:r>
              <a:t>No measured cost or zero-cost scaling claim is available. The chat route may log queries if the database is configured. Add consent, retention limits and redaction before a wider pilot.</a:t>
            </a:r>
            <a:endParaRPr/>
          </a:p>
          <a:p xmlns:a="http://schemas.openxmlformats.org/drawingml/2006/main">
            <a:pPr>
              <a:spcBef>
                <a:spcPct val="0"/>
              </a:spcBef>
              <a:buNone/>
            </a:pPr>
            <a:r>
              <a:t>Sources: tests/, package.json, app/api/verify/route.ts, https://www.bis.gov.in/bis-apps/?lang=en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Impact (50 seconds)</a:t>
            </a:r>
            <a:endParaRPr/>
          </a:p>
          <a:p xmlns:a="http://schemas.openxmlformats.org/drawingml/2006/main">
            <a:pPr>
              <a:spcBef>
                <a:spcPct val="0"/>
              </a:spcBef>
              <a:buNone/>
            </a:pPr>
            <a:r>
              <a:t>We propose a small pilot with 20 consumers and 10 MSME participants using the same tasks with manual portal search and BIS Sahayak. Counterbalance the order of tools to reduce learning effects. Record task success, median completion time and whether users reach the correct next service.</a:t>
            </a:r>
            <a:endParaRPr/>
          </a:p>
          <a:p xmlns:a="http://schemas.openxmlformats.org/drawingml/2006/main">
            <a:pPr>
              <a:spcBef>
                <a:spcPct val="0"/>
              </a:spcBef>
              <a:buNone/>
            </a:pPr>
            <a:r>
              <a:t>A domain reviewer will inspect 100 test queries spanning covered products, ambiguous queries, unsupported questions and both languages. Citation precision means the share of displayed references that actually support the answer. The 95% and 50% figures are targets, not observed results. Review every numeric safety limit against an authorised source and treat any unsupported limit as a failed case.</a:t>
            </a:r>
            <a:endParaRPr/>
          </a:p>
          <a:p xmlns:a="http://schemas.openxmlformats.org/drawingml/2006/main">
            <a:pPr>
              <a:spcBef>
                <a:spcPct val="0"/>
              </a:spcBef>
              <a:buNone/>
            </a:pPr>
            <a:r>
              <a:t>Expected benefits are better understanding and less navigation effort. There is no evidence yet for reduced accidents, measured compliance savings, emissions reductions or population-scale adoption.</a:t>
            </a:r>
            <a:endParaRPr/>
          </a:p>
          <a:p xmlns:a="http://schemas.openxmlformats.org/drawingml/2006/main">
            <a:pPr>
              <a:spcBef>
                <a:spcPct val="0"/>
              </a:spcBef>
              <a:buNone/>
            </a:pPr>
            <a:r>
              <a:t>Rollout: start with the 21-record scope, then add reviewed product categories. Later extend to hallmarking and laboratory recommendations after authoritative data access and validation.</a:t>
            </a:r>
            <a:endParaRPr/>
          </a:p>
          <a:p xmlns:a="http://schemas.openxmlformats.org/drawingml/2006/main">
            <a:pPr>
              <a:spcBef>
                <a:spcPct val="0"/>
              </a:spcBef>
              <a:buNone/>
            </a:pPr>
            <a:r>
              <a:t>Source for existing official service coverage: https://www.bis.gov.in/know-your-standard/?lang=en and https://www.bis.gov.in/bis-apps/?lang=en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Close (20 seconds)</a:t>
            </a:r>
            <a:endParaRPr/>
          </a:p>
          <a:p xmlns:a="http://schemas.openxmlformats.org/drawingml/2006/main">
            <a:pPr>
              <a:spcBef>
                <a:spcPct val="0"/>
              </a:spcBef>
              <a:buNone/>
            </a:pPr>
            <a:r>
              <a:t>BIS Sahayak brings the question, explanation and reference into one conversation. Our next milestone is a small, independently reviewed pilot that proves people can reach the right standard and service faster. Please try the live prototype.</a:t>
            </a:r>
            <a:endParaRPr/>
          </a:p>
          <a:p xmlns:a="http://schemas.openxmlformats.org/drawingml/2006/main">
            <a:pPr>
              <a:spcBef>
                <a:spcPct val="0"/>
              </a:spcBef>
              <a:buNone/>
            </a:pPr>
            <a:r>
              <a:t>Sources accessed 15 September 2026. Project data are curated summaries and need an authorised BIS content review before broader use.</a:t>
            </a:r>
            <a:endParaRPr/>
          </a:p>
          <a:p xmlns:a="http://schemas.openxmlformats.org/drawingml/2006/main">
            <a:pPr>
              <a:spcBef>
                <a:spcPct val="0"/>
              </a:spcBef>
              <a:buNone/>
            </a:pPr>
            <a:r>
              <a:t>Pitch-structure research: AWSAR by Team Hashtag, SIH2020, presents stakeholder pain, workflow/use-case diagrams, working features, links and a roadmap. Project and presentation link: https://github.com/PragatiVerma18/SIH2020_MK95_Hashtag . Winner status corroborated by mentor: https://github.com/vinitshahdeo/vinitshahdeo/discussions/1 .</a:t>
            </a:r>
            <a:endParaRPr/>
          </a:p>
          <a:p xmlns:a="http://schemas.openxmlformats.org/drawingml/2006/main">
            <a:pPr>
              <a:spcBef>
                <a:spcPct val="0"/>
              </a:spcBef>
              <a:buNone/>
            </a:pPr>
            <a:r>
              <a:t>VoCo by BCE/Team Vision, SIH2022, ties accessibility to a specific audience and provides user flows, prototype references, phased development and cost planning. Team-owned project and deck links: https://github.com/uzibytes/Voco_App . Official SIH results (RK774, BCE/TEAM VISION, Winner), page 11: https://sih.gov.in/pdf/SIH-SOFTWARE-RESULT.pdf . Public main-deck transcript: https://pt.slideshare.net/slideshow/sih-ppt-22-for-reference-and-educatio-purpose/286053965 . Downloaded research proposal mirror: https://github.com/JoysonBeera/sih-winning-presentations .</a:t>
            </a:r>
            <a:endParaRPr/>
          </a:p>
          <a:p xmlns:a="http://schemas.openxmlformats.org/drawingml/2006/main">
            <a:pPr>
              <a:spcBef>
                <a:spcPct val="0"/>
              </a:spcBef>
              <a:buNone/>
            </a:pPr>
            <a:r>
              <a:t>These examples informed structure, not claims of guaranteed selection or causation. No winner's statistics were transferred into this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6e49a4ab024d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9f33b02e3e43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da4a6781944f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1bddb3bf984e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3325da57a241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f70d26c3f14b4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484a51bc367405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001c8ac7811481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82156f8308a44d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7999bd25cd94d7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2ee33c4969848c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B5E037-92D1-4A96-BF72-223C3342BD9B}"/>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7BF9EE2-5BC1-4D34-AF9E-432CB0DDFFEC}"/>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367DE9F-198B-46EB-9FE4-A27932EE8B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896211FC-CB4E-4F5B-BA81-380D666B8D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BF1C92C-145D-415C-B0F4-AB1569F8A6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F545F7-F06F-43E2-A6ED-5D2AD5A286A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A161CE6-AD24-429E-8413-E92B5C034E9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545C94E-64DA-4BD5-BE64-E2A9639F7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F75A9C8E-3BEB-4CF9-AD34-67DBF8FF40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D680D765-CB36-4604-9D1D-C2DBD0ADA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B799E2-35DF-44ED-825C-758069F6D9C5}"/>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8AE0809-0604-40FD-8199-72912FBB15DA}"/>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0B3E673-5BE0-48AD-8649-E84D797974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83F7A27A-2C4F-48D2-8CD7-45FFC63E6B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9B9C28A-CF86-4F1A-A4EB-EC64D904FB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3C27BF-29B7-4219-BBB2-93FF345C94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64826A7-BFD3-4B63-A1E2-0AB6AE42878E}"/>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A99FD2C-00C3-4383-80BE-7AA950FB7AAD}"/>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2C7771B4-8B57-449C-9195-4EBFF9684C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95DC2CB9-DFE8-475C-A7D1-E92FE80FC9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B11D9D5C-4E14-4D86-BEE1-2124D370E0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240B46-A509-446C-9453-F814AA409AA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0E4D98F-72EF-446A-A028-155C47E6F56B}"/>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C9F0110-4C70-4979-A1B8-BE1C5CBBF4EC}"/>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6D60401-F68A-46CE-99A3-6A36635F3EE0}"/>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0FB4DEB-1638-451D-937E-37B8B301BDA4}"/>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D5DA7235-529B-4A94-B6BB-7202E3D2DF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76039B7B-5DD0-4C4C-9155-CA39F2F0D2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B7C806FA-D9DE-4E18-9732-855DD0A21C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44F4B4-5DD5-43E9-A604-0462E71858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4F969AB4-8479-490A-9F30-C7F8AE94A7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A957BAEE-1AB5-470C-A421-CB33A7F45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68E1EC80-0FDD-4CEE-9395-59C577D4DD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94D06C4B-E3F9-4DFF-8909-4C8C136D07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796EC0EC-3DA2-421C-9895-C4BC7ED2D6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4FE35CD8-2EAE-4E11-9230-115063C698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1EE6C4-442F-4B3F-A4A5-694C6D392A41}"/>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E8AC8F0-0C46-4FB5-A661-A593EC9DE87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91257A0B-7B08-4F0C-92E3-8C8D7B53AF99}"/>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BC60B5A-3311-40AC-ADB6-2BBAAD0DD6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97D82D45-8E7B-4C4A-9A28-65298C70A0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F9DD083-5F4C-49B3-9992-FCA890DBDD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806043-53E1-4D5A-A11A-F26935CE7BEC}"/>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52E98DF-E04E-4DAA-8CED-F203D1DD5EE6}"/>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AC1811BB-FEA5-4365-90F7-9E2D335E1EF5}"/>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1800DF58-41FC-4377-85EB-7D62BC637E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43637A6D-DDD1-4FC5-9AF3-86049B9ACB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540CEE32-0523-454A-AA80-09FEA78631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476BB6-19C6-46B6-BFBC-37F5849B470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FFCEA0B-733A-4B27-9DCD-729ED02068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FD8E7FE-10AD-448E-9831-A42EE2322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B6D05600-62B3-4EE4-8E27-C9F3F61B82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C750CDB-86AF-4268-855D-0271AEE973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82C5893-1D72-4DFF-B898-2DAF06BC782F}"/>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BD68E05-666E-4973-A686-5F4F60801B94}"/>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27A2333-79DA-4141-AFB4-57077D3E7A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6AB85888-BF60-455D-BF58-2BBE43FB9B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8CF5CFF-E4CA-4C99-8EDD-263E7F0CDF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de6a41c3944d66" /><Relationship Type="http://schemas.openxmlformats.org/officeDocument/2006/relationships/slideLayout" Target="/ppt/slideLayouts/slideLayout1.xml" Id="R93515ff0b722447a" /><Relationship Type="http://schemas.openxmlformats.org/officeDocument/2006/relationships/slideLayout" Target="/ppt/slideLayouts/slideLayout2.xml" Id="R52facc5c8b3a4611" /><Relationship Type="http://schemas.openxmlformats.org/officeDocument/2006/relationships/slideLayout" Target="/ppt/slideLayouts/slideLayout3.xml" Id="R4ebe1dd8de574cb2" /><Relationship Type="http://schemas.openxmlformats.org/officeDocument/2006/relationships/slideLayout" Target="/ppt/slideLayouts/slideLayout4.xml" Id="R1e6289855049418e" /><Relationship Type="http://schemas.openxmlformats.org/officeDocument/2006/relationships/slideLayout" Target="/ppt/slideLayouts/slideLayout5.xml" Id="R0409c5fc57854d9e" /><Relationship Type="http://schemas.openxmlformats.org/officeDocument/2006/relationships/slideLayout" Target="/ppt/slideLayouts/slideLayout6.xml" Id="R0168c4b8c1db42cf" /><Relationship Type="http://schemas.openxmlformats.org/officeDocument/2006/relationships/slideLayout" Target="/ppt/slideLayouts/slideLayout7.xml" Id="R0564f46df1524fe2" /><Relationship Type="http://schemas.openxmlformats.org/officeDocument/2006/relationships/slideLayout" Target="/ppt/slideLayouts/slideLayout8.xml" Id="R4e42fd9290504d94" /><Relationship Type="http://schemas.openxmlformats.org/officeDocument/2006/relationships/slideLayout" Target="/ppt/slideLayouts/slideLayout9.xml" Id="R036f8537313c4c45" /><Relationship Type="http://schemas.openxmlformats.org/officeDocument/2006/relationships/slideLayout" Target="/ppt/slideLayouts/slideLayout10.xml" Id="R4fd6153b45624008" /><Relationship Type="http://schemas.openxmlformats.org/officeDocument/2006/relationships/slideLayout" Target="/ppt/slideLayouts/slideLayout11.xml" Id="Rb0244ead363747a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27A5C31D-10E2-4408-BDB8-059A043E2CA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93EE1591-2278-4AA1-905F-5E2DCF8965F9}"/>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85B65A7-8D78-4FD9-B55D-F6E9A1DB478D}"/>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FB47204-964F-4D91-BEC6-1582C2FDC844}"/>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BDA96D4-FE15-44C8-843A-D78D61D66A8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515ff0b722447a"/>
    <p:sldLayoutId xmlns:r="http://schemas.openxmlformats.org/officeDocument/2006/relationships" id="2147483650" r:id="R52facc5c8b3a4611"/>
    <p:sldLayoutId xmlns:r="http://schemas.openxmlformats.org/officeDocument/2006/relationships" id="2147483651" r:id="R4ebe1dd8de574cb2"/>
    <p:sldLayoutId xmlns:r="http://schemas.openxmlformats.org/officeDocument/2006/relationships" id="2147483652" r:id="R1e6289855049418e"/>
    <p:sldLayoutId xmlns:r="http://schemas.openxmlformats.org/officeDocument/2006/relationships" id="2147483653" r:id="R0409c5fc57854d9e"/>
    <p:sldLayoutId xmlns:r="http://schemas.openxmlformats.org/officeDocument/2006/relationships" id="2147483654" r:id="R0168c4b8c1db42cf"/>
    <p:sldLayoutId xmlns:r="http://schemas.openxmlformats.org/officeDocument/2006/relationships" id="2147483655" r:id="R0564f46df1524fe2"/>
    <p:sldLayoutId xmlns:r="http://schemas.openxmlformats.org/officeDocument/2006/relationships" id="2147483656" r:id="R4e42fd9290504d94"/>
    <p:sldLayoutId xmlns:r="http://schemas.openxmlformats.org/officeDocument/2006/relationships" id="2147483657" r:id="R036f8537313c4c45"/>
    <p:sldLayoutId xmlns:r="http://schemas.openxmlformats.org/officeDocument/2006/relationships" id="2147483658" r:id="R4fd6153b45624008"/>
    <p:sldLayoutId xmlns:r="http://schemas.openxmlformats.org/officeDocument/2006/relationships" id="2147483659" r:id="Rb0244ead363747a4"/>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4d294954764918" /><Relationship Type="http://schemas.openxmlformats.org/officeDocument/2006/relationships/image" Target="/ppt/media/image.png" Id="Rbf55810bd99c4127" /><Relationship Type="http://schemas.openxmlformats.org/officeDocument/2006/relationships/image" Target="/ppt/media/image2.png" Id="R49512d77e3144a23" /><Relationship Type="http://schemas.openxmlformats.org/officeDocument/2006/relationships/hyperlink" Target="https://sih2026-bis-assistant.vercel.app/#chat" TargetMode="External" Id="Rc604167c70964cfb" /><Relationship Type="http://schemas.openxmlformats.org/officeDocument/2006/relationships/notesSlide" Target="/ppt/notesSlides/notesSlide1.xml" Id="R31c7a451ac3d48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9ac5680a8b04a42" /><Relationship Type="http://schemas.openxmlformats.org/officeDocument/2006/relationships/image" Target="/ppt/media/image3.png" Id="R7364caf8fac147a9" /><Relationship Type="http://schemas.openxmlformats.org/officeDocument/2006/relationships/image" Target="/ppt/media/image4.png" Id="Rdfd6e93901ae4cdd" /><Relationship Type="http://schemas.openxmlformats.org/officeDocument/2006/relationships/hyperlink" Target="https://sih2026-bis-assistant.vercel.app/#chat" TargetMode="External" Id="R7c818d141466409d" /><Relationship Type="http://schemas.openxmlformats.org/officeDocument/2006/relationships/notesSlide" Target="/ppt/notesSlides/notesSlide2.xml" Id="Rcec1eaf87b9d4d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2a2d705fc204a88" /><Relationship Type="http://schemas.openxmlformats.org/officeDocument/2006/relationships/image" Target="/ppt/media/image5.png" Id="R279a6a9326a747ce" /><Relationship Type="http://schemas.openxmlformats.org/officeDocument/2006/relationships/notesSlide" Target="/ppt/notesSlides/notesSlide3.xml" Id="Ra5267dbbbdaa4f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523ff265f2c4161" /><Relationship Type="http://schemas.openxmlformats.org/officeDocument/2006/relationships/image" Target="/ppt/media/image6.png" Id="Rb51c34a2b1ba42f2" /><Relationship Type="http://schemas.openxmlformats.org/officeDocument/2006/relationships/notesSlide" Target="/ppt/notesSlides/notesSlide4.xml" Id="R55c6ef9be3fd45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28b938700d344ac" /><Relationship Type="http://schemas.openxmlformats.org/officeDocument/2006/relationships/image" Target="/ppt/media/image7.png" Id="R59d41f5751824b6e" /><Relationship Type="http://schemas.openxmlformats.org/officeDocument/2006/relationships/notesSlide" Target="/ppt/notesSlides/notesSlide5.xml" Id="R0e2e3948c48b41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a0da510ac234aff" /><Relationship Type="http://schemas.openxmlformats.org/officeDocument/2006/relationships/image" Target="/ppt/media/image8.png" Id="Ra45fac21e9cc43dc" /><Relationship Type="http://schemas.openxmlformats.org/officeDocument/2006/relationships/hyperlink" Target="https://www.bis.gov.in/know-your-standard/?lang=en" TargetMode="External" Id="Rf8f92141d0d34e5f" /><Relationship Type="http://schemas.openxmlformats.org/officeDocument/2006/relationships/hyperlink" Target="https://www.bis.gov.in/bis-apps/?lang=en" TargetMode="External" Id="R79e15e7e9fa94455" /><Relationship Type="http://schemas.openxmlformats.org/officeDocument/2006/relationships/hyperlink" Target="https://lims.bis.gov.in/home/search_is_number/" TargetMode="External" Id="R2877e77d4bf842fd" /><Relationship Type="http://schemas.openxmlformats.org/officeDocument/2006/relationships/hyperlink" Target="https://arxiv.org/abs/2005.11401" TargetMode="External" Id="R2c5027949f6e46f2" /><Relationship Type="http://schemas.openxmlformats.org/officeDocument/2006/relationships/hyperlink" Target="https://github.com/PhoenixOP231/BIS_Sahayak_SIH" TargetMode="External" Id="R80306ed01d7b4fc3" /><Relationship Type="http://schemas.openxmlformats.org/officeDocument/2006/relationships/hyperlink" Target="https://sih2026-bis-assistant.vercel.app/#chat" TargetMode="External" Id="R05a94c5c5af346df" /><Relationship Type="http://schemas.openxmlformats.org/officeDocument/2006/relationships/notesSlide" Target="/ppt/notesSlides/notesSlide6.xml" Id="R119dce860cfe4370"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bf55810bd99c4127"/>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110857ED-263A-4FA4-9005-ED07E44CB300}"/>
              </a:ext>
            </a:extLst>
          </p:cNvPr>
          <p:cNvSpPr>
            <a:spLocks xmlns:a="http://schemas.openxmlformats.org/drawingml/2006/main" noGrp="1"/>
          </p:cNvSpPr>
          <p:nvPr>
            <p:ph type="ctrTitle" idx="0"/>
          </p:nvPr>
        </p:nvSpPr>
        <p:spPr>
          <a:xfrm xmlns:a="http://schemas.openxmlformats.org/drawingml/2006/main">
            <a:off x="619125" y="209550"/>
            <a:ext cx="9048750" cy="609600"/>
          </a:xfrm>
        </p:spPr>
        <p:txBody>
          <a:bodyPr xmlns:a="http://schemas.openxmlformats.org/drawingml/2006/main" lIns="0" tIns="0" rIns="0" bIns="0" anchor="ctr">
            <a:noAutofit/>
          </a:bodyPr>
          <a:lstStyle xmlns:a="http://schemas.openxmlformats.org/drawingml/2006/main"/>
          <a:p xmlns:a="http://schemas.openxmlformats.org/drawingml/2006/main">
            <a:pPr algn="ctr">
              <a:defRPr sz="3375" b="1">
                <a:solidFill>
                  <a:srgbClr val="214E82"/>
                </a:solidFill>
                <a:latin typeface="Times New Roman"/>
                <a:ea typeface="Times New Roman"/>
                <a:cs typeface="Times New Roman"/>
              </a:defRPr>
            </a:pPr>
            <a:r>
              <a:rPr sz="3375" b="1">
                <a:solidFill>
                  <a:srgbClr val="214E82"/>
                </a:solidFill>
                <a:latin typeface="Times New Roman"/>
                <a:ea typeface="Times New Roman"/>
                <a:cs typeface="Times New Roman"/>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FEF22B05-B429-4752-AACD-D72ADF3C5132}"/>
              </a:ext>
            </a:extLst>
          </p:cNvPr>
          <p:cNvSpPr>
            <a:spLocks xmlns:a="http://schemas.openxmlformats.org/drawingml/2006/main" noGrp="1"/>
          </p:cNvSpPr>
          <p:nvPr/>
        </p:nvSpPr>
        <p:spPr>
          <a:xfrm xmlns:a="http://schemas.openxmlformats.org/drawingml/2006/main">
            <a:off x="428625" y="1971675"/>
            <a:ext cx="582930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172538"/>
                </a:solidFill>
                <a:latin typeface="Arial"/>
                <a:ea typeface="Arial"/>
                <a:cs typeface="Arial"/>
              </a:defRPr>
            </a:pPr>
            <a:r>
              <a:rPr sz="1950" b="0">
                <a:solidFill>
                  <a:srgbClr val="172538"/>
                </a:solidFill>
                <a:latin typeface="Arial"/>
                <a:ea typeface="Arial"/>
                <a:cs typeface="Arial"/>
              </a:rPr>
              <a:t>Standards guidance for consumers and MSMEs</a:t>
            </a:r>
            <a:endParaRPr/>
          </a:p>
        </p:txBody>
      </p:sp>
      <p:pic>
        <p:nvPicPr>
          <p:cNvPr id="53" name="Picture 1"/>
          <p:cNvPicPr>
            <a:picLocks xmlns:a="http://schemas.openxmlformats.org/drawingml/2006/main" noChangeAspect="1"/>
          </p:cNvPicPr>
          <p:nvPr/>
        </p:nvPicPr>
        <p:blipFill>
          <a:blip xmlns:r="http://schemas.openxmlformats.org/officeDocument/2006/relationships" xmlns:a="http://schemas.openxmlformats.org/drawingml/2006/main" r:embed="R49512d77e3144a2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BIS SAHAYAK">
            <a:extLst xmlns:a="http://schemas.openxmlformats.org/drawingml/2006/main">
              <a:ext uri="{FF2B5EF4-FFF2-40B4-BE49-F238E27FC236}">
                <a16:creationId xmlns:a16="http://schemas.microsoft.com/office/drawing/2014/main" id="{ABCA3446-5B1E-40BE-BD43-29B2749753C3}"/>
              </a:ext>
            </a:extLst>
          </p:cNvPr>
          <p:cNvSpPr>
            <a:spLocks xmlns:a="http://schemas.openxmlformats.org/drawingml/2006/main" noGrp="1"/>
          </p:cNvSpPr>
          <p:nvPr/>
        </p:nvSpPr>
        <p:spPr>
          <a:xfrm xmlns:a="http://schemas.openxmlformats.org/drawingml/2006/main">
            <a:off x="428625" y="1400175"/>
            <a:ext cx="552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214E82"/>
                </a:solidFill>
                <a:latin typeface="Times New Roman"/>
                <a:ea typeface="Times New Roman"/>
                <a:cs typeface="Times New Roman"/>
              </a:defRPr>
            </a:pPr>
            <a:r>
              <a:rPr sz="3825" b="1">
                <a:solidFill>
                  <a:srgbClr val="214E82"/>
                </a:solidFill>
                <a:latin typeface="Times New Roman"/>
                <a:ea typeface="Times New Roman"/>
                <a:cs typeface="Times New Roman"/>
              </a:rPr>
              <a:t>BIS SAHAYAK</a:t>
            </a:r>
          </a:p>
        </p:txBody>
      </p:sp>
      <p:sp>
        <p:nvSpPr>
          <p:cNvPr id="41" name="Problem Statement ID:  SIH26107">
            <a:extLst xmlns:a="http://schemas.openxmlformats.org/drawingml/2006/main">
              <a:ext uri="{FF2B5EF4-FFF2-40B4-BE49-F238E27FC236}">
                <a16:creationId xmlns:a16="http://schemas.microsoft.com/office/drawing/2014/main" id="{B4CF8DCB-0D5A-48A6-977A-A3BC3CB340EC}"/>
              </a:ext>
            </a:extLst>
          </p:cNvPr>
          <p:cNvSpPr>
            <a:spLocks xmlns:a="http://schemas.openxmlformats.org/drawingml/2006/main" noGrp="1"/>
          </p:cNvSpPr>
          <p:nvPr/>
        </p:nvSpPr>
        <p:spPr>
          <a:xfrm xmlns:a="http://schemas.openxmlformats.org/drawingml/2006/main">
            <a:off x="428625" y="2762250"/>
            <a:ext cx="595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538"/>
                </a:solidFill>
                <a:latin typeface="Arial"/>
                <a:ea typeface="Arial"/>
                <a:cs typeface="Arial"/>
              </a:defRPr>
            </a:pPr>
            <a:r>
              <a:rPr sz="1875" b="1">
                <a:solidFill>
                  <a:srgbClr val="172538"/>
                </a:solidFill>
                <a:latin typeface="Arial"/>
                <a:ea typeface="Arial"/>
                <a:cs typeface="Arial"/>
              </a:rPr>
              <a:t>Problem Statement ID:  SIH26107</a:t>
            </a:r>
          </a:p>
        </p:txBody>
      </p:sp>
      <p:sp>
        <p:nvSpPr>
          <p:cNvPr id="42" name="Problem Statement Title">
            <a:extLst xmlns:a="http://schemas.openxmlformats.org/drawingml/2006/main">
              <a:ext uri="{FF2B5EF4-FFF2-40B4-BE49-F238E27FC236}">
                <a16:creationId xmlns:a16="http://schemas.microsoft.com/office/drawing/2014/main" id="{58A27085-8AA9-4999-B75B-7E17667E2DC0}"/>
              </a:ext>
            </a:extLst>
          </p:cNvPr>
          <p:cNvSpPr>
            <a:spLocks xmlns:a="http://schemas.openxmlformats.org/drawingml/2006/main" noGrp="1"/>
          </p:cNvSpPr>
          <p:nvPr/>
        </p:nvSpPr>
        <p:spPr>
          <a:xfrm xmlns:a="http://schemas.openxmlformats.org/drawingml/2006/main">
            <a:off x="428625" y="327660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14E82"/>
                </a:solidFill>
                <a:latin typeface="Arial"/>
                <a:ea typeface="Arial"/>
                <a:cs typeface="Arial"/>
              </a:defRPr>
            </a:pPr>
            <a:r>
              <a:rPr sz="1650" b="1">
                <a:solidFill>
                  <a:srgbClr val="214E82"/>
                </a:solidFill>
                <a:latin typeface="Arial"/>
                <a:ea typeface="Arial"/>
                <a:cs typeface="Arial"/>
              </a:rPr>
              <a:t>Problem Statement Title</a:t>
            </a:r>
          </a:p>
        </p:txBody>
      </p:sp>
      <p:sp>
        <p:nvSpPr>
          <p:cNvPr id="43" name="AI-powered intelligent assistant for Indian Standa">
            <a:extLst xmlns:a="http://schemas.openxmlformats.org/drawingml/2006/main">
              <a:ext uri="{FF2B5EF4-FFF2-40B4-BE49-F238E27FC236}">
                <a16:creationId xmlns:a16="http://schemas.microsoft.com/office/drawing/2014/main" id="{3DF6A51B-337E-4319-9B9D-5E5F2C4D28A0}"/>
              </a:ext>
            </a:extLst>
          </p:cNvPr>
          <p:cNvSpPr>
            <a:spLocks xmlns:a="http://schemas.openxmlformats.org/drawingml/2006/main" noGrp="1"/>
          </p:cNvSpPr>
          <p:nvPr/>
        </p:nvSpPr>
        <p:spPr>
          <a:xfrm xmlns:a="http://schemas.openxmlformats.org/drawingml/2006/main">
            <a:off x="428625" y="3619500"/>
            <a:ext cx="5753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AI-powered intelligent assistant for Indian Standards</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and BIS services for industries and consumers</a:t>
            </a:r>
          </a:p>
        </p:txBody>
      </p:sp>
      <p:sp>
        <p:nvSpPr>
          <p:cNvPr id="44" name="Theme: Smart Automation (confirm in SIH portal)">
            <a:extLst xmlns:a="http://schemas.openxmlformats.org/drawingml/2006/main">
              <a:ext uri="{FF2B5EF4-FFF2-40B4-BE49-F238E27FC236}">
                <a16:creationId xmlns:a16="http://schemas.microsoft.com/office/drawing/2014/main" id="{C24A18A8-191A-48D8-9B6F-9FAD3835750D}"/>
              </a:ext>
            </a:extLst>
          </p:cNvPr>
          <p:cNvSpPr>
            <a:spLocks xmlns:a="http://schemas.openxmlformats.org/drawingml/2006/main" noGrp="1"/>
          </p:cNvSpPr>
          <p:nvPr/>
        </p:nvSpPr>
        <p:spPr>
          <a:xfrm xmlns:a="http://schemas.openxmlformats.org/drawingml/2006/main">
            <a:off x="428625" y="4686300"/>
            <a:ext cx="5791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538"/>
                </a:solidFill>
                <a:latin typeface="Arial"/>
                <a:ea typeface="Arial"/>
                <a:cs typeface="Arial"/>
              </a:defRPr>
            </a:pPr>
            <a:r>
              <a:rPr sz="1725" b="0">
                <a:solidFill>
                  <a:srgbClr val="172538"/>
                </a:solidFill>
                <a:latin typeface="Arial"/>
                <a:ea typeface="Arial"/>
                <a:cs typeface="Arial"/>
              </a:rPr>
              <a:t>Theme: Smart Automation (confirm in SIH portal)</a:t>
            </a:r>
          </a:p>
        </p:txBody>
      </p:sp>
      <p:sp>
        <p:nvSpPr>
          <p:cNvPr id="45" name="PS Category: Software     Team Name: Logic Lords">
            <a:extLst xmlns:a="http://schemas.openxmlformats.org/drawingml/2006/main">
              <a:ext uri="{FF2B5EF4-FFF2-40B4-BE49-F238E27FC236}">
                <a16:creationId xmlns:a16="http://schemas.microsoft.com/office/drawing/2014/main" id="{AC81A8F7-8A4D-4C20-8427-DBBC894964B0}"/>
              </a:ext>
            </a:extLst>
          </p:cNvPr>
          <p:cNvSpPr>
            <a:spLocks xmlns:a="http://schemas.openxmlformats.org/drawingml/2006/main" noGrp="1"/>
          </p:cNvSpPr>
          <p:nvPr/>
        </p:nvSpPr>
        <p:spPr>
          <a:xfrm xmlns:a="http://schemas.openxmlformats.org/drawingml/2006/main">
            <a:off x="428625" y="5467350"/>
            <a:ext cx="638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2538"/>
                </a:solidFill>
                <a:latin typeface="Arial"/>
                <a:ea typeface="Arial"/>
                <a:cs typeface="Arial"/>
              </a:defRPr>
            </a:pPr>
            <a:r>
              <a:rPr sz="1725" b="1">
                <a:solidFill>
                  <a:srgbClr val="172538"/>
                </a:solidFill>
                <a:latin typeface="Arial"/>
                <a:ea typeface="Arial"/>
                <a:cs typeface="Arial"/>
              </a:rPr>
              <a:t>PS Category: Software     Team Name: Logic Lords</a:t>
            </a:r>
          </a:p>
        </p:txBody>
      </p:sp>
      <p:sp>
        <p:nvSpPr>
          <p:cNvPr id="46" name="Team ID: [Enter registered team ID]">
            <a:extLst xmlns:a="http://schemas.openxmlformats.org/drawingml/2006/main">
              <a:ext uri="{FF2B5EF4-FFF2-40B4-BE49-F238E27FC236}">
                <a16:creationId xmlns:a16="http://schemas.microsoft.com/office/drawing/2014/main" id="{2E72A9F6-5B21-4662-94B7-578D37C73E73}"/>
              </a:ext>
            </a:extLst>
          </p:cNvPr>
          <p:cNvSpPr>
            <a:spLocks xmlns:a="http://schemas.openxmlformats.org/drawingml/2006/main" noGrp="1"/>
          </p:cNvSpPr>
          <p:nvPr/>
        </p:nvSpPr>
        <p:spPr>
          <a:xfrm xmlns:a="http://schemas.openxmlformats.org/drawingml/2006/main">
            <a:off x="428625" y="59150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071"/>
                </a:solidFill>
                <a:latin typeface="Arial"/>
                <a:ea typeface="Arial"/>
                <a:cs typeface="Arial"/>
              </a:defRPr>
            </a:pPr>
            <a:r>
              <a:rPr sz="1650" b="0">
                <a:solidFill>
                  <a:srgbClr val="526071"/>
                </a:solidFill>
                <a:latin typeface="Arial"/>
                <a:ea typeface="Arial"/>
                <a:cs typeface="Arial"/>
              </a:rPr>
              <a:t>Team ID: [Enter registered team ID]</a:t>
            </a:r>
          </a:p>
        </p:txBody>
      </p:sp>
      <p:sp>
        <p:nvSpPr>
          <p:cNvPr id="47" name="Live prototype: sih2026-bis-assistant.vercel.app">
            <a:extLst xmlns:a="http://schemas.openxmlformats.org/drawingml/2006/main">
              <a:ext uri="{FF2B5EF4-FFF2-40B4-BE49-F238E27FC236}">
                <a16:creationId xmlns:a16="http://schemas.microsoft.com/office/drawing/2014/main" id="{D8864731-09A8-4480-B952-B2050F130E64}"/>
              </a:ext>
            </a:extLst>
          </p:cNvPr>
          <p:cNvSpPr>
            <a:spLocks xmlns:a="http://schemas.openxmlformats.org/drawingml/2006/main" noGrp="1"/>
          </p:cNvSpPr>
          <p:nvPr/>
        </p:nvSpPr>
        <p:spPr>
          <a:xfrm xmlns:a="http://schemas.openxmlformats.org/drawingml/2006/main">
            <a:off x="428625" y="6362700"/>
            <a:ext cx="790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14E82"/>
                </a:solidFill>
                <a:latin typeface="Arial"/>
                <a:ea typeface="Arial"/>
                <a:cs typeface="Arial"/>
              </a:defRPr>
            </a:pPr>
            <a:r>
              <a:rPr sz="1650" b="0">
                <a:solidFill>
                  <a:srgbClr val="214E82"/>
                </a:solidFill>
                <a:latin typeface="Arial"/>
                <a:ea typeface="Arial"/>
                <a:cs typeface="Arial"/>
                <a:hlinkClick xmlns:r="http://schemas.openxmlformats.org/officeDocument/2006/relationships" r:id="Rc604167c70964cfb"/>
              </a:rPr>
              <a:t>Live prototype: sih2026-bis-assistant.vercel.app</a:t>
            </a:r>
          </a:p>
        </p:txBody>
      </p:sp>
    </p:spTree>
    <p:extLst>
      <p:ext uri="{BB962C8B-B14F-4D97-AF65-F5344CB8AC3E}">
        <p14:creationId xmlns:p14="http://schemas.microsoft.com/office/powerpoint/2010/main" val="18059178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19CB2ED-1B41-4EA2-8E2D-D1F7CBA8B454}"/>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F58635AA-F9E5-49AE-8530-D36FECB96145}"/>
              </a:ext>
            </a:extLst>
          </p:cNvPr>
          <p:cNvSpPr>
            <a:spLocks xmlns:a="http://schemas.openxmlformats.org/drawingml/2006/main" noGrp="1"/>
          </p:cNvSpPr>
          <p:nvPr>
            <p:ph type="title" idx="0"/>
          </p:nvPr>
        </p:nvSpPr>
        <p:spPr>
          <a:xfrm xmlns:a="http://schemas.openxmlformats.org/drawingml/2006/main">
            <a:off x="1952625" y="200025"/>
            <a:ext cx="7743825" cy="828675"/>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375" b="1">
                <a:solidFill>
                  <a:srgbClr val="000000"/>
                </a:solidFill>
                <a:latin typeface="Times New Roman"/>
                <a:ea typeface="Times New Roman"/>
                <a:cs typeface="Times New Roman"/>
              </a:defRPr>
            </a:pPr>
            <a:r>
              <a:rPr sz="3375" b="1">
                <a:solidFill>
                  <a:srgbClr val="000000"/>
                </a:solidFill>
                <a:latin typeface="Times New Roman"/>
                <a:ea typeface="Times New Roman"/>
                <a:cs typeface="Times New Roman"/>
              </a:rPr>
              <a:t>BIS SAHAYAK</a:t>
            </a:r>
          </a:p>
        </p:txBody>
      </p:sp>
      <p:sp>
        <p:nvSpPr>
          <p:cNvPr id="6" name="Slide Number Placeholder 5">
            <a:extLst xmlns:a="http://schemas.openxmlformats.org/drawingml/2006/main">
              <a:ext uri="{FF2B5EF4-FFF2-40B4-BE49-F238E27FC236}">
                <a16:creationId xmlns:a16="http://schemas.microsoft.com/office/drawing/2014/main" id="{6AFE0ABB-5679-4CD3-AA99-3366A0019B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15364" name="Logic Lords template team badge">
            <a:extLst xmlns:a="http://schemas.openxmlformats.org/drawingml/2006/main">
              <a:ext uri="{FF2B5EF4-FFF2-40B4-BE49-F238E27FC236}">
                <a16:creationId xmlns:a16="http://schemas.microsoft.com/office/drawing/2014/main" id="{2A08093E-BBD8-4456-9A8A-3D969C194DE4}"/>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Logic</a:t>
            </a:r>
          </a:p>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Lords</a:t>
            </a:r>
          </a:p>
        </p:txBody>
      </p:sp>
      <p:pic>
        <p:nvPicPr>
          <p:cNvPr id="15382" name=""/>
          <p:cNvPicPr>
            <a:picLocks xmlns:a="http://schemas.openxmlformats.org/drawingml/2006/main" noChangeAspect="1"/>
          </p:cNvPicPr>
          <p:nvPr/>
        </p:nvPicPr>
        <p:blipFill>
          <a:blip xmlns:r="http://schemas.openxmlformats.org/officeDocument/2006/relationships" xmlns:a="http://schemas.openxmlformats.org/drawingml/2006/main" r:embed="R7364caf8fac147a9"/>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5366" name="@SIH Idea submission- Template">
            <a:extLst xmlns:a="http://schemas.openxmlformats.org/drawingml/2006/main">
              <a:ext uri="{FF2B5EF4-FFF2-40B4-BE49-F238E27FC236}">
                <a16:creationId xmlns:a16="http://schemas.microsoft.com/office/drawing/2014/main" id="{7C73ADA5-858F-4835-98A9-0B2E1EEE6B80}"/>
              </a:ext>
            </a:extLst>
          </p:cNvPr>
          <p:cNvSpPr>
            <a:spLocks xmlns:a="http://schemas.openxmlformats.org/drawingml/2006/main" noGrp="1"/>
          </p:cNvSpPr>
          <p:nvPr/>
        </p:nvSpPr>
        <p:spPr>
          <a:xfrm xmlns:a="http://schemas.openxmlformats.org/drawingml/2006/main">
            <a:off x="4648200" y="64293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5367" name="Proposed solution">
            <a:extLst xmlns:a="http://schemas.openxmlformats.org/drawingml/2006/main">
              <a:ext uri="{FF2B5EF4-FFF2-40B4-BE49-F238E27FC236}">
                <a16:creationId xmlns:a16="http://schemas.microsoft.com/office/drawing/2014/main" id="{05D7494D-B054-4427-895E-CADE14A80283}"/>
              </a:ext>
            </a:extLst>
          </p:cNvPr>
          <p:cNvSpPr>
            <a:spLocks xmlns:a="http://schemas.openxmlformats.org/drawingml/2006/main" noGrp="1"/>
          </p:cNvSpPr>
          <p:nvPr/>
        </p:nvSpPr>
        <p:spPr>
          <a:xfrm xmlns:a="http://schemas.openxmlformats.org/drawingml/2006/main">
            <a:off x="457200" y="133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14E82"/>
                </a:solidFill>
                <a:latin typeface="Arial"/>
                <a:ea typeface="Arial"/>
                <a:cs typeface="Arial"/>
              </a:defRPr>
            </a:pPr>
            <a:r>
              <a:rPr sz="2400" b="1">
                <a:solidFill>
                  <a:srgbClr val="214E82"/>
                </a:solidFill>
                <a:latin typeface="Arial"/>
                <a:ea typeface="Arial"/>
                <a:cs typeface="Arial"/>
              </a:rPr>
              <a:t>Proposed solution</a:t>
            </a:r>
          </a:p>
        </p:txBody>
      </p:sp>
      <p:sp>
        <p:nvSpPr>
          <p:cNvPr id="15368" name="For a consumer">
            <a:extLst xmlns:a="http://schemas.openxmlformats.org/drawingml/2006/main">
              <a:ext uri="{FF2B5EF4-FFF2-40B4-BE49-F238E27FC236}">
                <a16:creationId xmlns:a16="http://schemas.microsoft.com/office/drawing/2014/main" id="{5729B936-41D5-4D6E-88B0-D8365221E24B}"/>
              </a:ext>
            </a:extLst>
          </p:cNvPr>
          <p:cNvSpPr>
            <a:spLocks xmlns:a="http://schemas.openxmlformats.org/drawingml/2006/main" noGrp="1"/>
          </p:cNvSpPr>
          <p:nvPr/>
        </p:nvSpPr>
        <p:spPr>
          <a:xfrm xmlns:a="http://schemas.openxmlformats.org/drawingml/2006/main">
            <a:off x="457200" y="19431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538"/>
                </a:solidFill>
                <a:latin typeface="Arial"/>
                <a:ea typeface="Arial"/>
                <a:cs typeface="Arial"/>
              </a:defRPr>
            </a:pPr>
            <a:r>
              <a:rPr sz="1875" b="1">
                <a:solidFill>
                  <a:srgbClr val="172538"/>
                </a:solidFill>
                <a:latin typeface="Arial"/>
                <a:ea typeface="Arial"/>
                <a:cs typeface="Arial"/>
              </a:rPr>
              <a:t>For a consumer</a:t>
            </a:r>
          </a:p>
        </p:txBody>
      </p:sp>
      <p:sp>
        <p:nvSpPr>
          <p:cNvPr id="15369" name="Ask: “How do I check this pressure cooker?”&#10;Get a ">
            <a:extLst xmlns:a="http://schemas.openxmlformats.org/drawingml/2006/main">
              <a:ext uri="{FF2B5EF4-FFF2-40B4-BE49-F238E27FC236}">
                <a16:creationId xmlns:a16="http://schemas.microsoft.com/office/drawing/2014/main" id="{FF13A606-8558-4B35-96BB-82AE4AECD817}"/>
              </a:ext>
            </a:extLst>
          </p:cNvPr>
          <p:cNvSpPr>
            <a:spLocks xmlns:a="http://schemas.openxmlformats.org/drawingml/2006/main" noGrp="1"/>
          </p:cNvSpPr>
          <p:nvPr/>
        </p:nvSpPr>
        <p:spPr>
          <a:xfrm xmlns:a="http://schemas.openxmlformats.org/drawingml/2006/main">
            <a:off x="457200" y="2305050"/>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538"/>
                </a:solidFill>
                <a:latin typeface="Arial"/>
                <a:ea typeface="Arial"/>
                <a:cs typeface="Arial"/>
              </a:defRPr>
            </a:pPr>
            <a:r>
              <a:rPr sz="1800" b="0">
                <a:solidFill>
                  <a:srgbClr val="172538"/>
                </a:solidFill>
                <a:latin typeface="Arial"/>
                <a:ea typeface="Arial"/>
                <a:cs typeface="Arial"/>
              </a:rPr>
              <a:t>Ask: “How do I check this pressure cooker?”</a:t>
            </a:r>
          </a:p>
          <a:p xmlns:a="http://schemas.openxmlformats.org/drawingml/2006/main">
            <a:pPr algn="l">
              <a:defRPr sz="1800" b="0">
                <a:solidFill>
                  <a:srgbClr val="172538"/>
                </a:solidFill>
                <a:latin typeface="Arial"/>
                <a:ea typeface="Arial"/>
                <a:cs typeface="Arial"/>
              </a:defRPr>
            </a:pPr>
            <a:r>
              <a:rPr sz="1800" b="0">
                <a:solidFill>
                  <a:srgbClr val="172538"/>
                </a:solidFill>
                <a:latin typeface="Arial"/>
                <a:ea typeface="Arial"/>
                <a:cs typeface="Arial"/>
              </a:rPr>
              <a:t>Get a short answer and an official BIS Care handoff.</a:t>
            </a:r>
          </a:p>
        </p:txBody>
      </p:sp>
      <p:sp>
        <p:nvSpPr>
          <p:cNvPr id="15370" name="For an MSME">
            <a:extLst xmlns:a="http://schemas.openxmlformats.org/drawingml/2006/main">
              <a:ext uri="{FF2B5EF4-FFF2-40B4-BE49-F238E27FC236}">
                <a16:creationId xmlns:a16="http://schemas.microsoft.com/office/drawing/2014/main" id="{75FE2D8B-4A0A-4E01-94B8-9ADBBC770C27}"/>
              </a:ext>
            </a:extLst>
          </p:cNvPr>
          <p:cNvSpPr>
            <a:spLocks xmlns:a="http://schemas.openxmlformats.org/drawingml/2006/main" noGrp="1"/>
          </p:cNvSpPr>
          <p:nvPr/>
        </p:nvSpPr>
        <p:spPr>
          <a:xfrm xmlns:a="http://schemas.openxmlformats.org/drawingml/2006/main">
            <a:off x="457200" y="341947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2538"/>
                </a:solidFill>
                <a:latin typeface="Arial"/>
                <a:ea typeface="Arial"/>
                <a:cs typeface="Arial"/>
              </a:defRPr>
            </a:pPr>
            <a:r>
              <a:rPr sz="1875" b="1">
                <a:solidFill>
                  <a:srgbClr val="172538"/>
                </a:solidFill>
                <a:latin typeface="Arial"/>
                <a:ea typeface="Arial"/>
                <a:cs typeface="Arial"/>
              </a:rPr>
              <a:t>For an MSME</a:t>
            </a:r>
          </a:p>
        </p:txBody>
      </p:sp>
      <p:sp>
        <p:nvSpPr>
          <p:cNvPr id="15371" name="Ask: “Which tests apply to my product?”&#10;Inspect a ">
            <a:extLst xmlns:a="http://schemas.openxmlformats.org/drawingml/2006/main">
              <a:ext uri="{FF2B5EF4-FFF2-40B4-BE49-F238E27FC236}">
                <a16:creationId xmlns:a16="http://schemas.microsoft.com/office/drawing/2014/main" id="{4D5CABE4-0DE4-4CF5-B48B-96950DDBD9C4}"/>
              </a:ext>
            </a:extLst>
          </p:cNvPr>
          <p:cNvSpPr>
            <a:spLocks xmlns:a="http://schemas.openxmlformats.org/drawingml/2006/main" noGrp="1"/>
          </p:cNvSpPr>
          <p:nvPr/>
        </p:nvSpPr>
        <p:spPr>
          <a:xfrm xmlns:a="http://schemas.openxmlformats.org/drawingml/2006/main">
            <a:off x="457200" y="3781425"/>
            <a:ext cx="5191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538"/>
                </a:solidFill>
                <a:latin typeface="Arial"/>
                <a:ea typeface="Arial"/>
                <a:cs typeface="Arial"/>
              </a:defRPr>
            </a:pPr>
            <a:r>
              <a:rPr sz="1800" b="0">
                <a:solidFill>
                  <a:srgbClr val="172538"/>
                </a:solidFill>
                <a:latin typeface="Arial"/>
                <a:ea typeface="Arial"/>
                <a:cs typeface="Arial"/>
              </a:rPr>
              <a:t>Ask: “Which tests apply to my product?”</a:t>
            </a:r>
          </a:p>
          <a:p xmlns:a="http://schemas.openxmlformats.org/drawingml/2006/main">
            <a:pPr algn="l">
              <a:defRPr sz="1800" b="0">
                <a:solidFill>
                  <a:srgbClr val="172538"/>
                </a:solidFill>
                <a:latin typeface="Arial"/>
                <a:ea typeface="Arial"/>
                <a:cs typeface="Arial"/>
              </a:defRPr>
            </a:pPr>
            <a:r>
              <a:rPr sz="1800" b="0">
                <a:solidFill>
                  <a:srgbClr val="172538"/>
                </a:solidFill>
                <a:latin typeface="Arial"/>
                <a:ea typeface="Arial"/>
                <a:cs typeface="Arial"/>
              </a:rPr>
              <a:t>Inspect a cited summary, then check the BIS source.</a:t>
            </a:r>
          </a:p>
        </p:txBody>
      </p:sp>
      <p:sp>
        <p:nvSpPr>
          <p:cNvPr id="15372" name="Working prototype">
            <a:extLst xmlns:a="http://schemas.openxmlformats.org/drawingml/2006/main">
              <a:ext uri="{FF2B5EF4-FFF2-40B4-BE49-F238E27FC236}">
                <a16:creationId xmlns:a16="http://schemas.microsoft.com/office/drawing/2014/main" id="{793C4411-7D27-44AF-9018-1753431C5583}"/>
              </a:ext>
            </a:extLst>
          </p:cNvPr>
          <p:cNvSpPr>
            <a:spLocks xmlns:a="http://schemas.openxmlformats.org/drawingml/2006/main" noGrp="1"/>
          </p:cNvSpPr>
          <p:nvPr/>
        </p:nvSpPr>
        <p:spPr>
          <a:xfrm xmlns:a="http://schemas.openxmlformats.org/drawingml/2006/main">
            <a:off x="457200" y="49815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14E82"/>
                </a:solidFill>
                <a:latin typeface="Arial"/>
                <a:ea typeface="Arial"/>
                <a:cs typeface="Arial"/>
              </a:defRPr>
            </a:pPr>
            <a:r>
              <a:rPr sz="1875" b="1">
                <a:solidFill>
                  <a:srgbClr val="214E82"/>
                </a:solidFill>
                <a:latin typeface="Arial"/>
                <a:ea typeface="Arial"/>
                <a:cs typeface="Arial"/>
              </a:rPr>
              <a:t>Working prototype</a:t>
            </a:r>
          </a:p>
        </p:txBody>
      </p:sp>
      <p:sp>
        <p:nvSpPr>
          <p:cNvPr id="15373" name="English or Hindi, two modes, audio, standards sear">
            <a:extLst xmlns:a="http://schemas.openxmlformats.org/drawingml/2006/main">
              <a:ext uri="{FF2B5EF4-FFF2-40B4-BE49-F238E27FC236}">
                <a16:creationId xmlns:a16="http://schemas.microsoft.com/office/drawing/2014/main" id="{DC1C6AE8-5D5C-410F-80BC-2CC11F33D2FF}"/>
              </a:ext>
            </a:extLst>
          </p:cNvPr>
          <p:cNvSpPr>
            <a:spLocks xmlns:a="http://schemas.openxmlformats.org/drawingml/2006/main" noGrp="1"/>
          </p:cNvSpPr>
          <p:nvPr/>
        </p:nvSpPr>
        <p:spPr>
          <a:xfrm xmlns:a="http://schemas.openxmlformats.org/drawingml/2006/main">
            <a:off x="457200" y="5372100"/>
            <a:ext cx="5191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538"/>
                </a:solidFill>
                <a:latin typeface="Arial"/>
                <a:ea typeface="Arial"/>
                <a:cs typeface="Arial"/>
              </a:defRPr>
            </a:pPr>
            <a:r>
              <a:rPr sz="1725" b="0">
                <a:solidFill>
                  <a:srgbClr val="172538"/>
                </a:solidFill>
                <a:latin typeface="Arial"/>
                <a:ea typeface="Arial"/>
                <a:cs typeface="Arial"/>
              </a:rPr>
              <a:t>English or Hindi, two modes, audio, standards search and service guides.</a:t>
            </a:r>
          </a:p>
        </p:txBody>
      </p:sp>
      <p:pic>
        <p:nvPicPr>
          <p:cNvPr id="15391" name=""/>
          <p:cNvPicPr>
            <a:picLocks xmlns:a="http://schemas.openxmlformats.org/drawingml/2006/main" noChangeAspect="1"/>
          </p:cNvPicPr>
          <p:nvPr/>
        </p:nvPicPr>
        <p:blipFill>
          <a:blip xmlns:r="http://schemas.openxmlformats.org/officeDocument/2006/relationships" xmlns:a="http://schemas.openxmlformats.org/drawingml/2006/main" r:embed="Rdfd6e93901ae4cdd"/>
          <a:stretch xmlns:a="http://schemas.openxmlformats.org/drawingml/2006/main"/>
        </p:blipFill>
        <p:spPr>
          <a:xfrm xmlns:a="http://schemas.openxmlformats.org/drawingml/2006/main">
            <a:off x="6329363" y="1943100"/>
            <a:ext cx="5000625" cy="3333750"/>
          </a:xfrm>
          <a:prstGeom xmlns:a="http://schemas.openxmlformats.org/drawingml/2006/main" prst="rect">
            <a:avLst/>
          </a:prstGeom>
        </p:spPr>
      </p:pic>
      <p:sp>
        <p:nvSpPr>
          <p:cNvPr id="15375" name="Two users. One route to the right source.">
            <a:extLst xmlns:a="http://schemas.openxmlformats.org/drawingml/2006/main">
              <a:ext uri="{FF2B5EF4-FFF2-40B4-BE49-F238E27FC236}">
                <a16:creationId xmlns:a16="http://schemas.microsoft.com/office/drawing/2014/main" id="{421837D3-2C5B-4D6D-A9D4-87648987725D}"/>
              </a:ext>
            </a:extLst>
          </p:cNvPr>
          <p:cNvSpPr>
            <a:spLocks xmlns:a="http://schemas.openxmlformats.org/drawingml/2006/main" noGrp="1"/>
          </p:cNvSpPr>
          <p:nvPr/>
        </p:nvSpPr>
        <p:spPr>
          <a:xfrm xmlns:a="http://schemas.openxmlformats.org/drawingml/2006/main">
            <a:off x="5924550" y="1495425"/>
            <a:ext cx="580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14E82"/>
                </a:solidFill>
                <a:latin typeface="Arial"/>
                <a:ea typeface="Arial"/>
                <a:cs typeface="Arial"/>
              </a:defRPr>
            </a:pPr>
            <a:r>
              <a:rPr sz="1725" b="1">
                <a:solidFill>
                  <a:srgbClr val="214E82"/>
                </a:solidFill>
                <a:latin typeface="Arial"/>
                <a:ea typeface="Arial"/>
                <a:cs typeface="Arial"/>
              </a:rPr>
              <a:t>Two users. One route to the right source.</a:t>
            </a:r>
          </a:p>
        </p:txBody>
      </p:sp>
      <p:sp>
        <p:nvSpPr>
          <p:cNvPr id="15376" name="Try the live prototype">
            <a:extLst xmlns:a="http://schemas.openxmlformats.org/drawingml/2006/main">
              <a:ext uri="{FF2B5EF4-FFF2-40B4-BE49-F238E27FC236}">
                <a16:creationId xmlns:a16="http://schemas.microsoft.com/office/drawing/2014/main" id="{DD3870D5-2B24-49B3-8546-407CAA18520E}"/>
              </a:ext>
            </a:extLst>
          </p:cNvPr>
          <p:cNvSpPr>
            <a:spLocks xmlns:a="http://schemas.openxmlformats.org/drawingml/2006/main" noGrp="1"/>
          </p:cNvSpPr>
          <p:nvPr/>
        </p:nvSpPr>
        <p:spPr>
          <a:xfrm xmlns:a="http://schemas.openxmlformats.org/drawingml/2006/main">
            <a:off x="5924550" y="5286375"/>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14E82"/>
                </a:solidFill>
                <a:latin typeface="Arial"/>
                <a:ea typeface="Arial"/>
                <a:cs typeface="Arial"/>
              </a:defRPr>
            </a:pPr>
            <a:r>
              <a:rPr sz="1650" b="0">
                <a:solidFill>
                  <a:srgbClr val="214E82"/>
                </a:solidFill>
                <a:latin typeface="Arial"/>
                <a:ea typeface="Arial"/>
                <a:cs typeface="Arial"/>
                <a:hlinkClick xmlns:r="http://schemas.openxmlformats.org/officeDocument/2006/relationships" r:id="R7c818d141466409d"/>
              </a:rPr>
              <a:t>Try the live prototype</a:t>
            </a:r>
          </a:p>
        </p:txBody>
      </p:sp>
      <p:sp>
        <p:nvSpPr>
          <p:cNvPr id="15377" name="Current scope: 21 demonstration summaries.&#10;Officia">
            <a:extLst xmlns:a="http://schemas.openxmlformats.org/drawingml/2006/main">
              <a:ext uri="{FF2B5EF4-FFF2-40B4-BE49-F238E27FC236}">
                <a16:creationId xmlns:a16="http://schemas.microsoft.com/office/drawing/2014/main" id="{6E8DC313-21ED-4F12-9623-EBBA76FE83D8}"/>
              </a:ext>
            </a:extLst>
          </p:cNvPr>
          <p:cNvSpPr>
            <a:spLocks xmlns:a="http://schemas.openxmlformats.org/drawingml/2006/main" noGrp="1"/>
          </p:cNvSpPr>
          <p:nvPr/>
        </p:nvSpPr>
        <p:spPr>
          <a:xfrm xmlns:a="http://schemas.openxmlformats.org/drawingml/2006/main">
            <a:off x="5924550" y="567690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rPr sz="1500" b="0">
                <a:solidFill>
                  <a:srgbClr val="526071"/>
                </a:solidFill>
                <a:latin typeface="Arial"/>
                <a:ea typeface="Arial"/>
                <a:cs typeface="Arial"/>
              </a:rPr>
              <a:t>Current scope: 21 demonstration summaries.</a:t>
            </a:r>
          </a:p>
          <a:p xmlns:a="http://schemas.openxmlformats.org/drawingml/2006/main">
            <a:pPr algn="l">
              <a:defRPr sz="1500" b="0">
                <a:solidFill>
                  <a:srgbClr val="526071"/>
                </a:solidFill>
                <a:latin typeface="Arial"/>
                <a:ea typeface="Arial"/>
                <a:cs typeface="Arial"/>
              </a:defRPr>
            </a:pPr>
            <a:r>
              <a:rPr sz="1500" b="0">
                <a:solidFill>
                  <a:srgbClr val="526071"/>
                </a:solidFill>
                <a:latin typeface="Arial"/>
                <a:ea typeface="Arial"/>
                <a:cs typeface="Arial"/>
              </a:rPr>
              <a:t>Official BIS portals remain the authority.</a:t>
            </a:r>
          </a:p>
        </p:txBody>
      </p:sp>
    </p:spTree>
    <p:extLst>
      <p:ext uri="{BB962C8B-B14F-4D97-AF65-F5344CB8AC3E}">
        <p14:creationId xmlns:p14="http://schemas.microsoft.com/office/powerpoint/2010/main" val="17575644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EA74EE09-B255-44C6-AC47-3A7C4E482295}"/>
              </a:ext>
            </a:extLst>
          </p:cNvPr>
          <p:cNvSpPr>
            <a:spLocks xmlns:a="http://schemas.openxmlformats.org/drawingml/2006/main" noGrp="1"/>
          </p:cNvSpPr>
          <p:nvPr>
            <p:ph type="title" idx="0"/>
          </p:nvPr>
        </p:nvSpPr>
        <p:spPr>
          <a:xfrm xmlns:a="http://schemas.openxmlformats.org/drawingml/2006/main">
            <a:off x="1952625" y="200025"/>
            <a:ext cx="7743825" cy="828675"/>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375" b="1">
                <a:solidFill>
                  <a:srgbClr val="000000"/>
                </a:solidFill>
                <a:latin typeface="Times New Roman"/>
                <a:ea typeface="Times New Roman"/>
                <a:cs typeface="Times New Roman"/>
              </a:defRPr>
            </a:pPr>
            <a:r>
              <a:rPr sz="3375"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ACBA1D12-6638-4EC5-918F-C357C9DED5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17412" name="Logic Lords template team badge">
            <a:extLst xmlns:a="http://schemas.openxmlformats.org/drawingml/2006/main">
              <a:ext uri="{FF2B5EF4-FFF2-40B4-BE49-F238E27FC236}">
                <a16:creationId xmlns:a16="http://schemas.microsoft.com/office/drawing/2014/main" id="{B51B42B4-4E99-432D-8D32-07657240359D}"/>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Logic</a:t>
            </a:r>
          </a:p>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Lords</a:t>
            </a:r>
          </a:p>
        </p:txBody>
      </p:sp>
      <p:pic>
        <p:nvPicPr>
          <p:cNvPr id="17423" name=""/>
          <p:cNvPicPr>
            <a:picLocks xmlns:a="http://schemas.openxmlformats.org/drawingml/2006/main" noChangeAspect="1"/>
          </p:cNvPicPr>
          <p:nvPr/>
        </p:nvPicPr>
        <p:blipFill>
          <a:blip xmlns:r="http://schemas.openxmlformats.org/officeDocument/2006/relationships" xmlns:a="http://schemas.openxmlformats.org/drawingml/2006/main" r:embed="R279a6a9326a747ce"/>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4" name="@SIH Idea submission- Template">
            <a:extLst xmlns:a="http://schemas.openxmlformats.org/drawingml/2006/main">
              <a:ext uri="{FF2B5EF4-FFF2-40B4-BE49-F238E27FC236}">
                <a16:creationId xmlns:a16="http://schemas.microsoft.com/office/drawing/2014/main" id="{D728ECFB-D97F-4B71-8D77-FE8D27F09E56}"/>
              </a:ext>
            </a:extLst>
          </p:cNvPr>
          <p:cNvSpPr>
            <a:spLocks xmlns:a="http://schemas.openxmlformats.org/drawingml/2006/main" noGrp="1"/>
          </p:cNvSpPr>
          <p:nvPr/>
        </p:nvSpPr>
        <p:spPr>
          <a:xfrm xmlns:a="http://schemas.openxmlformats.org/drawingml/2006/main">
            <a:off x="4648200" y="64293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15" name="Methodology: retrieve, explain, inspect">
            <a:extLst xmlns:a="http://schemas.openxmlformats.org/drawingml/2006/main">
              <a:ext uri="{FF2B5EF4-FFF2-40B4-BE49-F238E27FC236}">
                <a16:creationId xmlns:a16="http://schemas.microsoft.com/office/drawing/2014/main" id="{8B19EDBB-913A-4F50-B55E-49522F7D7A8E}"/>
              </a:ext>
            </a:extLst>
          </p:cNvPr>
          <p:cNvSpPr>
            <a:spLocks xmlns:a="http://schemas.openxmlformats.org/drawingml/2006/main" noGrp="1"/>
          </p:cNvSpPr>
          <p:nvPr/>
        </p:nvSpPr>
        <p:spPr>
          <a:xfrm xmlns:a="http://schemas.openxmlformats.org/drawingml/2006/main">
            <a:off x="457200" y="1371600"/>
            <a:ext cx="1119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14E82"/>
                </a:solidFill>
                <a:latin typeface="Arial"/>
                <a:ea typeface="Arial"/>
                <a:cs typeface="Arial"/>
              </a:defRPr>
            </a:pPr>
            <a:r>
              <a:rPr sz="2325" b="1">
                <a:solidFill>
                  <a:srgbClr val="214E82"/>
                </a:solidFill>
                <a:latin typeface="Arial"/>
                <a:ea typeface="Arial"/>
                <a:cs typeface="Arial"/>
              </a:rPr>
              <a:t>Methodology: retrieve, explain, inspect</a:t>
            </a:r>
          </a:p>
        </p:txBody>
      </p:sp>
      <p:graphicFrame>
        <p:nvGraphicFramePr>
          <p:cNvPr id="17426" name=""/>
          <p:cNvGraphicFramePr/>
          <p:nvPr/>
        </p:nvGraphicFramePr>
        <p:xfrm>
          <a:off xmlns:a="http://schemas.openxmlformats.org/drawingml/2006/main" x="457200" y="1981200"/>
          <a:ext xmlns:a="http://schemas.openxmlformats.org/drawingml/2006/main" cx="11277600" cy="2952750"/>
        </p:xfrm>
        <a:graphic xmlns:a="http://schemas.openxmlformats.org/drawingml/2006/main">
          <a:graphicData uri="http://schemas.openxmlformats.org/drawingml/2006/table">
            <a:tbl>
              <a:tblPr firstRow="0" bandRow="0"/>
              <a:tblGrid>
                <a:gridCol w="1590675"/>
                <a:gridCol w="6276975"/>
                <a:gridCol w="3409950"/>
              </a:tblGrid>
              <a:tr h="590550">
                <a:tc>
                  <a:txBody>
                    <a:bodyPr lIns="133350" tIns="95250" rIns="133350" bIns="95250">
                      <a:noAutofit/>
                    </a:bodyPr>
                    <a:lstStyle/>
                    <a:p>
                      <a:pPr algn="l"/>
                      <a:r>
                        <a:rPr sz="1650" b="1">
                          <a:solidFill>
                            <a:srgbClr val="FFFFFF"/>
                          </a:solidFill>
                          <a:latin typeface="Arial"/>
                          <a:ea typeface="Arial"/>
                          <a:cs typeface="Arial"/>
                        </a:rPr>
                        <a:t>Stage</a:t>
                      </a:r>
                    </a:p>
                  </a:txBody>
                  <a:tcPr marL="91440" marR="91440" marT="45720" marB="45720" anchor="ctr">
                    <a:solidFill>
                      <a:srgbClr val="214E82"/>
                    </a:solidFill>
                  </a:tcPr>
                </a:tc>
                <a:tc>
                  <a:txBody>
                    <a:bodyPr lIns="133350" tIns="95250" rIns="133350" bIns="95250">
                      <a:noAutofit/>
                    </a:bodyPr>
                    <a:lstStyle/>
                    <a:p>
                      <a:pPr algn="l"/>
                      <a:r>
                        <a:rPr sz="1650" b="1">
                          <a:solidFill>
                            <a:srgbClr val="FFFFFF"/>
                          </a:solidFill>
                          <a:latin typeface="Arial"/>
                          <a:ea typeface="Arial"/>
                          <a:cs typeface="Arial"/>
                        </a:rPr>
                        <a:t>What the prototype does</a:t>
                      </a:r>
                    </a:p>
                  </a:txBody>
                  <a:tcPr marL="91440" marR="91440" marT="45720" marB="45720" anchor="ctr">
                    <a:solidFill>
                      <a:srgbClr val="214E82"/>
                    </a:solidFill>
                  </a:tcPr>
                </a:tc>
                <a:tc>
                  <a:txBody>
                    <a:bodyPr lIns="133350" tIns="95250" rIns="133350" bIns="95250">
                      <a:noAutofit/>
                    </a:bodyPr>
                    <a:lstStyle/>
                    <a:p>
                      <a:pPr algn="l"/>
                      <a:r>
                        <a:rPr sz="1650" b="1">
                          <a:solidFill>
                            <a:srgbClr val="FFFFFF"/>
                          </a:solidFill>
                          <a:latin typeface="Arial"/>
                          <a:ea typeface="Arial"/>
                          <a:cs typeface="Arial"/>
                        </a:rPr>
                        <a:t>Result</a:t>
                      </a:r>
                    </a:p>
                  </a:txBody>
                  <a:tcPr marL="91440" marR="91440" marT="45720" marB="45720" anchor="ctr">
                    <a:solidFill>
                      <a:srgbClr val="214E82"/>
                    </a:solidFill>
                  </a:tcPr>
                </a:tc>
              </a:tr>
              <a:tr h="590550">
                <a:tc>
                  <a:txBody>
                    <a:bodyPr lIns="133350" tIns="95250" rIns="133350" bIns="95250">
                      <a:noAutofit/>
                    </a:bodyPr>
                    <a:lstStyle/>
                    <a:p>
                      <a:pPr algn="l"/>
                      <a:r>
                        <a:rPr sz="1650" b="0">
                          <a:solidFill>
                            <a:srgbClr val="172538"/>
                          </a:solidFill>
                          <a:latin typeface="Arial"/>
                          <a:ea typeface="Arial"/>
                          <a:cs typeface="Arial"/>
                        </a:rPr>
                        <a:t>1   Ask</a:t>
                      </a:r>
                    </a:p>
                  </a:txBody>
                  <a:tcPr marL="91440" marR="91440" marT="45720" marB="45720" anchor="ctr">
                    <a:solidFill>
                      <a:srgbClr val="EFF5FA"/>
                    </a:solidFill>
                  </a:tcPr>
                </a:tc>
                <a:tc>
                  <a:txBody>
                    <a:bodyPr lIns="133350" tIns="95250" rIns="133350" bIns="95250">
                      <a:noAutofit/>
                    </a:bodyPr>
                    <a:lstStyle/>
                    <a:p>
                      <a:pPr algn="l"/>
                      <a:r>
                        <a:rPr sz="1650" b="0">
                          <a:solidFill>
                            <a:srgbClr val="172538"/>
                          </a:solidFill>
                          <a:latin typeface="Arial"/>
                          <a:ea typeface="Arial"/>
                          <a:cs typeface="Arial"/>
                        </a:rPr>
                        <a:t>Capture query, user mode, language and limited history</a:t>
                      </a:r>
                    </a:p>
                  </a:txBody>
                  <a:tcPr marL="91440" marR="91440" marT="45720" marB="45720" anchor="ctr">
                    <a:solidFill>
                      <a:srgbClr val="EFF5FA"/>
                    </a:solidFill>
                  </a:tcPr>
                </a:tc>
                <a:tc>
                  <a:txBody>
                    <a:bodyPr lIns="133350" tIns="95250" rIns="133350" bIns="95250">
                      <a:noAutofit/>
                    </a:bodyPr>
                    <a:lstStyle/>
                    <a:p>
                      <a:pPr algn="l"/>
                      <a:r>
                        <a:rPr sz="1650" b="0">
                          <a:solidFill>
                            <a:srgbClr val="172538"/>
                          </a:solidFill>
                          <a:latin typeface="Arial"/>
                          <a:ea typeface="Arial"/>
                          <a:cs typeface="Arial"/>
                        </a:rPr>
                        <a:t>Consumer or MSME context</a:t>
                      </a:r>
                    </a:p>
                  </a:txBody>
                  <a:tcPr marL="91440" marR="91440" marT="45720" marB="45720" anchor="ctr">
                    <a:solidFill>
                      <a:srgbClr val="EFF5FA"/>
                    </a:solidFill>
                  </a:tcPr>
                </a:tc>
              </a:tr>
              <a:tr h="590550">
                <a:tc>
                  <a:txBody>
                    <a:bodyPr lIns="133350" tIns="95250" rIns="133350" bIns="95250">
                      <a:noAutofit/>
                    </a:bodyPr>
                    <a:lstStyle/>
                    <a:p>
                      <a:pPr algn="l"/>
                      <a:r>
                        <a:rPr sz="1650" b="0">
                          <a:solidFill>
                            <a:srgbClr val="172538"/>
                          </a:solidFill>
                          <a:latin typeface="Arial"/>
                          <a:ea typeface="Arial"/>
                          <a:cs typeface="Arial"/>
                        </a:rPr>
                        <a:t>2   Retrieve</a:t>
                      </a:r>
                    </a:p>
                  </a:txBody>
                  <a:tcPr marL="91440" marR="91440" marT="45720" marB="45720" anchor="ctr">
                    <a:solidFill>
                      <a:srgbClr val="FFFFFF"/>
                    </a:solidFill>
                  </a:tcPr>
                </a:tc>
                <a:tc>
                  <a:txBody>
                    <a:bodyPr lIns="133350" tIns="95250" rIns="133350" bIns="95250">
                      <a:noAutofit/>
                    </a:bodyPr>
                    <a:lstStyle/>
                    <a:p>
                      <a:pPr algn="l"/>
                      <a:r>
                        <a:rPr sz="1650" b="0">
                          <a:solidFill>
                            <a:srgbClr val="172538"/>
                          </a:solidFill>
                          <a:latin typeface="Arial"/>
                          <a:ea typeface="Arial"/>
                          <a:cs typeface="Arial"/>
                        </a:rPr>
                        <a:t>Rank local summaries using weighted terms and cosine similarity</a:t>
                      </a:r>
                    </a:p>
                  </a:txBody>
                  <a:tcPr marL="91440" marR="91440" marT="45720" marB="45720" anchor="ctr">
                    <a:solidFill>
                      <a:srgbClr val="FFFFFF"/>
                    </a:solidFill>
                  </a:tcPr>
                </a:tc>
                <a:tc>
                  <a:txBody>
                    <a:bodyPr lIns="133350" tIns="95250" rIns="133350" bIns="95250">
                      <a:noAutofit/>
                    </a:bodyPr>
                    <a:lstStyle/>
                    <a:p>
                      <a:pPr algn="l"/>
                      <a:r>
                        <a:rPr sz="1650" b="0">
                          <a:solidFill>
                            <a:srgbClr val="172538"/>
                          </a:solidFill>
                          <a:latin typeface="Arial"/>
                          <a:ea typeface="Arial"/>
                          <a:cs typeface="Arial"/>
                        </a:rPr>
                        <a:t>Up to five relevant chunks</a:t>
                      </a:r>
                    </a:p>
                  </a:txBody>
                  <a:tcPr marL="91440" marR="91440" marT="45720" marB="45720" anchor="ctr">
                    <a:solidFill>
                      <a:srgbClr val="FFFFFF"/>
                    </a:solidFill>
                  </a:tcPr>
                </a:tc>
              </a:tr>
              <a:tr h="590550">
                <a:tc>
                  <a:txBody>
                    <a:bodyPr lIns="133350" tIns="95250" rIns="133350" bIns="95250">
                      <a:noAutofit/>
                    </a:bodyPr>
                    <a:lstStyle/>
                    <a:p>
                      <a:pPr algn="l"/>
                      <a:r>
                        <a:rPr sz="1650" b="0">
                          <a:solidFill>
                            <a:srgbClr val="172538"/>
                          </a:solidFill>
                          <a:latin typeface="Arial"/>
                          <a:ea typeface="Arial"/>
                          <a:cs typeface="Arial"/>
                        </a:rPr>
                        <a:t>3   Explain</a:t>
                      </a:r>
                    </a:p>
                  </a:txBody>
                  <a:tcPr marL="91440" marR="91440" marT="45720" marB="45720" anchor="ctr">
                    <a:solidFill>
                      <a:srgbClr val="EFF5FA"/>
                    </a:solidFill>
                  </a:tcPr>
                </a:tc>
                <a:tc>
                  <a:txBody>
                    <a:bodyPr lIns="133350" tIns="95250" rIns="133350" bIns="95250">
                      <a:noAutofit/>
                    </a:bodyPr>
                    <a:lstStyle/>
                    <a:p>
                      <a:pPr algn="l"/>
                      <a:r>
                        <a:rPr sz="1650" b="0">
                          <a:solidFill>
                            <a:srgbClr val="172538"/>
                          </a:solidFill>
                          <a:latin typeface="Arial"/>
                          <a:ea typeface="Arial"/>
                          <a:cs typeface="Arial"/>
                        </a:rPr>
                        <a:t>Pass selected text to Gemini 3.5 Flash-Lite; flag fallback in API</a:t>
                      </a:r>
                    </a:p>
                  </a:txBody>
                  <a:tcPr marL="91440" marR="91440" marT="45720" marB="45720" anchor="ctr">
                    <a:solidFill>
                      <a:srgbClr val="EFF5FA"/>
                    </a:solidFill>
                  </a:tcPr>
                </a:tc>
                <a:tc>
                  <a:txBody>
                    <a:bodyPr lIns="133350" tIns="95250" rIns="133350" bIns="95250">
                      <a:noAutofit/>
                    </a:bodyPr>
                    <a:lstStyle/>
                    <a:p>
                      <a:pPr algn="l"/>
                      <a:r>
                        <a:rPr sz="1650" b="0">
                          <a:solidFill>
                            <a:srgbClr val="172538"/>
                          </a:solidFill>
                          <a:latin typeface="Arial"/>
                          <a:ea typeface="Arial"/>
                          <a:cs typeface="Arial"/>
                        </a:rPr>
                        <a:t>A cited answer or fallback</a:t>
                      </a:r>
                    </a:p>
                  </a:txBody>
                  <a:tcPr marL="91440" marR="91440" marT="45720" marB="45720" anchor="ctr">
                    <a:solidFill>
                      <a:srgbClr val="EFF5FA"/>
                    </a:solidFill>
                  </a:tcPr>
                </a:tc>
              </a:tr>
              <a:tr h="590550">
                <a:tc>
                  <a:txBody>
                    <a:bodyPr lIns="133350" tIns="95250" rIns="133350" bIns="95250">
                      <a:noAutofit/>
                    </a:bodyPr>
                    <a:lstStyle/>
                    <a:p>
                      <a:pPr algn="l"/>
                      <a:r>
                        <a:rPr sz="1650" b="0">
                          <a:solidFill>
                            <a:srgbClr val="172538"/>
                          </a:solidFill>
                          <a:latin typeface="Arial"/>
                          <a:ea typeface="Arial"/>
                          <a:cs typeface="Arial"/>
                        </a:rPr>
                        <a:t>4   Inspect</a:t>
                      </a:r>
                    </a:p>
                  </a:txBody>
                  <a:tcPr marL="91440" marR="91440" marT="45720" marB="45720" anchor="ctr">
                    <a:solidFill>
                      <a:srgbClr val="FFFFFF"/>
                    </a:solidFill>
                  </a:tcPr>
                </a:tc>
                <a:tc>
                  <a:txBody>
                    <a:bodyPr lIns="133350" tIns="95250" rIns="133350" bIns="95250">
                      <a:noAutofit/>
                    </a:bodyPr>
                    <a:lstStyle/>
                    <a:p>
                      <a:pPr algn="l"/>
                      <a:r>
                        <a:rPr sz="1650" b="0">
                          <a:solidFill>
                            <a:srgbClr val="172538"/>
                          </a:solidFill>
                          <a:latin typeface="Arial"/>
                          <a:ea typeface="Arial"/>
                          <a:cs typeface="Arial"/>
                        </a:rPr>
                        <a:t>Link citations to a demonstration standard view</a:t>
                      </a:r>
                    </a:p>
                  </a:txBody>
                  <a:tcPr marL="91440" marR="91440" marT="45720" marB="45720" anchor="ctr">
                    <a:solidFill>
                      <a:srgbClr val="FFFFFF"/>
                    </a:solidFill>
                  </a:tcPr>
                </a:tc>
                <a:tc>
                  <a:txBody>
                    <a:bodyPr lIns="133350" tIns="95250" rIns="133350" bIns="95250">
                      <a:noAutofit/>
                    </a:bodyPr>
                    <a:lstStyle/>
                    <a:p>
                      <a:pPr algn="l"/>
                      <a:r>
                        <a:rPr sz="1650" b="0">
                          <a:solidFill>
                            <a:srgbClr val="172538"/>
                          </a:solidFill>
                          <a:latin typeface="Arial"/>
                          <a:ea typeface="Arial"/>
                          <a:cs typeface="Arial"/>
                        </a:rPr>
                        <a:t>Source link for official check</a:t>
                      </a:r>
                    </a:p>
                  </a:txBody>
                  <a:tcPr marL="91440" marR="91440" marT="45720" marB="45720" anchor="ctr">
                    <a:solidFill>
                      <a:srgbClr val="FFFFFF"/>
                    </a:solidFill>
                  </a:tcPr>
                </a:tc>
              </a:tr>
            </a:tbl>
          </a:graphicData>
        </a:graphic>
      </p:graphicFrame>
      <p:sp>
        <p:nvSpPr>
          <p:cNvPr id="17417" name="Implemented stack">
            <a:extLst xmlns:a="http://schemas.openxmlformats.org/drawingml/2006/main">
              <a:ext uri="{FF2B5EF4-FFF2-40B4-BE49-F238E27FC236}">
                <a16:creationId xmlns:a16="http://schemas.microsoft.com/office/drawing/2014/main" id="{E5CCE2D0-99E7-4C7B-BD09-1E0DAD02A0D9}"/>
              </a:ext>
            </a:extLst>
          </p:cNvPr>
          <p:cNvSpPr>
            <a:spLocks xmlns:a="http://schemas.openxmlformats.org/drawingml/2006/main" noGrp="1"/>
          </p:cNvSpPr>
          <p:nvPr/>
        </p:nvSpPr>
        <p:spPr>
          <a:xfrm xmlns:a="http://schemas.openxmlformats.org/drawingml/2006/main">
            <a:off x="457200" y="52006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14E82"/>
                </a:solidFill>
                <a:latin typeface="Arial"/>
                <a:ea typeface="Arial"/>
                <a:cs typeface="Arial"/>
              </a:defRPr>
            </a:pPr>
            <a:r>
              <a:rPr sz="1950" b="1">
                <a:solidFill>
                  <a:srgbClr val="214E82"/>
                </a:solidFill>
                <a:latin typeface="Arial"/>
                <a:ea typeface="Arial"/>
                <a:cs typeface="Arial"/>
              </a:rPr>
              <a:t>Implemented stack</a:t>
            </a:r>
          </a:p>
        </p:txBody>
      </p:sp>
      <p:sp>
        <p:nvSpPr>
          <p:cNvPr id="17418" name="Next.js 15 + React 19 + TypeScript + Tailwind&#10;Loca">
            <a:extLst xmlns:a="http://schemas.openxmlformats.org/drawingml/2006/main">
              <a:ext uri="{FF2B5EF4-FFF2-40B4-BE49-F238E27FC236}">
                <a16:creationId xmlns:a16="http://schemas.microsoft.com/office/drawing/2014/main" id="{9874A816-6B9D-4EA6-B64A-DBB3424A6516}"/>
              </a:ext>
            </a:extLst>
          </p:cNvPr>
          <p:cNvSpPr>
            <a:spLocks xmlns:a="http://schemas.openxmlformats.org/drawingml/2006/main" noGrp="1"/>
          </p:cNvSpPr>
          <p:nvPr/>
        </p:nvSpPr>
        <p:spPr>
          <a:xfrm xmlns:a="http://schemas.openxmlformats.org/drawingml/2006/main">
            <a:off x="457200" y="5629275"/>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538"/>
                </a:solidFill>
                <a:latin typeface="Arial"/>
                <a:ea typeface="Arial"/>
                <a:cs typeface="Arial"/>
              </a:defRPr>
            </a:pPr>
            <a:r>
              <a:rPr sz="1800" b="0">
                <a:solidFill>
                  <a:srgbClr val="172538"/>
                </a:solidFill>
                <a:latin typeface="Arial"/>
                <a:ea typeface="Arial"/>
                <a:cs typeface="Arial"/>
              </a:rPr>
              <a:t>Next.js 15 + React 19 + TypeScript + Tailwind</a:t>
            </a:r>
          </a:p>
          <a:p xmlns:a="http://schemas.openxmlformats.org/drawingml/2006/main">
            <a:pPr algn="l">
              <a:defRPr sz="1800" b="0">
                <a:solidFill>
                  <a:srgbClr val="172538"/>
                </a:solidFill>
                <a:latin typeface="Arial"/>
                <a:ea typeface="Arial"/>
                <a:cs typeface="Arial"/>
              </a:defRPr>
            </a:pPr>
            <a:r>
              <a:rPr sz="1800" b="0">
                <a:solidFill>
                  <a:srgbClr val="172538"/>
                </a:solidFill>
                <a:latin typeface="Arial"/>
                <a:ea typeface="Arial"/>
                <a:cs typeface="Arial"/>
              </a:rPr>
              <a:t>Local JSON retrieval, Gemini, Web Speech API, Vercel</a:t>
            </a:r>
          </a:p>
        </p:txBody>
      </p:sp>
    </p:spTree>
    <p:extLst>
      <p:ext uri="{BB962C8B-B14F-4D97-AF65-F5344CB8AC3E}">
        <p14:creationId xmlns:p14="http://schemas.microsoft.com/office/powerpoint/2010/main" val="97349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D667B23-DC36-483C-840A-2E1D594253BD}"/>
              </a:ext>
            </a:extLst>
          </p:cNvPr>
          <p:cNvSpPr>
            <a:spLocks xmlns:a="http://schemas.openxmlformats.org/drawingml/2006/main" noGrp="1"/>
          </p:cNvSpPr>
          <p:nvPr>
            <p:ph type="title" idx="0"/>
          </p:nvPr>
        </p:nvSpPr>
        <p:spPr>
          <a:xfrm xmlns:a="http://schemas.openxmlformats.org/drawingml/2006/main">
            <a:off x="1952625" y="200025"/>
            <a:ext cx="7743825" cy="828675"/>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C77A1449-A2AB-4BB9-8B41-C06F398A49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17412" name="Logic Lords template team badge">
            <a:extLst xmlns:a="http://schemas.openxmlformats.org/drawingml/2006/main">
              <a:ext uri="{FF2B5EF4-FFF2-40B4-BE49-F238E27FC236}">
                <a16:creationId xmlns:a16="http://schemas.microsoft.com/office/drawing/2014/main" id="{4A20EB41-E7D1-416B-BF18-A4BAA4A1D9DB}"/>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Logic</a:t>
            </a:r>
          </a:p>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Lords</a:t>
            </a:r>
          </a:p>
        </p:txBody>
      </p:sp>
      <p:pic>
        <p:nvPicPr>
          <p:cNvPr id="17429" name=""/>
          <p:cNvPicPr>
            <a:picLocks xmlns:a="http://schemas.openxmlformats.org/drawingml/2006/main" noChangeAspect="1"/>
          </p:cNvPicPr>
          <p:nvPr/>
        </p:nvPicPr>
        <p:blipFill>
          <a:blip xmlns:r="http://schemas.openxmlformats.org/officeDocument/2006/relationships" xmlns:a="http://schemas.openxmlformats.org/drawingml/2006/main" r:embed="Rb51c34a2b1ba42f2"/>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4" name="@SIH Idea submission- Template">
            <a:extLst xmlns:a="http://schemas.openxmlformats.org/drawingml/2006/main">
              <a:ext uri="{FF2B5EF4-FFF2-40B4-BE49-F238E27FC236}">
                <a16:creationId xmlns:a16="http://schemas.microsoft.com/office/drawing/2014/main" id="{BB00B8D0-AC13-4682-AC3B-BA0BE22E2D12}"/>
              </a:ext>
            </a:extLst>
          </p:cNvPr>
          <p:cNvSpPr>
            <a:spLocks xmlns:a="http://schemas.openxmlformats.org/drawingml/2006/main" noGrp="1"/>
          </p:cNvSpPr>
          <p:nvPr/>
        </p:nvSpPr>
        <p:spPr>
          <a:xfrm xmlns:a="http://schemas.openxmlformats.org/drawingml/2006/main">
            <a:off x="4648200" y="64293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15" name="Working prototype, with a proposed review pilot">
            <a:extLst xmlns:a="http://schemas.openxmlformats.org/drawingml/2006/main">
              <a:ext uri="{FF2B5EF4-FFF2-40B4-BE49-F238E27FC236}">
                <a16:creationId xmlns:a16="http://schemas.microsoft.com/office/drawing/2014/main" id="{9C2CF325-7CD4-4F3A-9BD0-C60EB1670CA6}"/>
              </a:ext>
            </a:extLst>
          </p:cNvPr>
          <p:cNvSpPr>
            <a:spLocks xmlns:a="http://schemas.openxmlformats.org/drawingml/2006/main" noGrp="1"/>
          </p:cNvSpPr>
          <p:nvPr/>
        </p:nvSpPr>
        <p:spPr>
          <a:xfrm xmlns:a="http://schemas.openxmlformats.org/drawingml/2006/main">
            <a:off x="457200" y="1362075"/>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14E82"/>
                </a:solidFill>
                <a:latin typeface="Arial"/>
                <a:ea typeface="Arial"/>
                <a:cs typeface="Arial"/>
              </a:defRPr>
            </a:pPr>
            <a:r>
              <a:rPr sz="2325" b="1">
                <a:solidFill>
                  <a:srgbClr val="214E82"/>
                </a:solidFill>
                <a:latin typeface="Arial"/>
                <a:ea typeface="Arial"/>
                <a:cs typeface="Arial"/>
              </a:rPr>
              <a:t>Working prototype, with a proposed review pilot</a:t>
            </a:r>
          </a:p>
        </p:txBody>
      </p:sp>
      <p:sp>
        <p:nvSpPr>
          <p:cNvPr id="17416" name="21">
            <a:extLst xmlns:a="http://schemas.openxmlformats.org/drawingml/2006/main">
              <a:ext uri="{FF2B5EF4-FFF2-40B4-BE49-F238E27FC236}">
                <a16:creationId xmlns:a16="http://schemas.microsoft.com/office/drawing/2014/main" id="{2C6A6436-D444-42AF-8DA4-96D40BE4DC9F}"/>
              </a:ext>
            </a:extLst>
          </p:cNvPr>
          <p:cNvSpPr>
            <a:spLocks xmlns:a="http://schemas.openxmlformats.org/drawingml/2006/main" noGrp="1"/>
          </p:cNvSpPr>
          <p:nvPr/>
        </p:nvSpPr>
        <p:spPr>
          <a:xfrm xmlns:a="http://schemas.openxmlformats.org/drawingml/2006/main">
            <a:off x="457200" y="1924050"/>
            <a:ext cx="190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214E82"/>
                </a:solidFill>
                <a:latin typeface="Arial"/>
                <a:ea typeface="Arial"/>
                <a:cs typeface="Arial"/>
              </a:defRPr>
            </a:pPr>
            <a:r>
              <a:rPr sz="4050" b="1">
                <a:solidFill>
                  <a:srgbClr val="214E82"/>
                </a:solidFill>
                <a:latin typeface="Arial"/>
                <a:ea typeface="Arial"/>
                <a:cs typeface="Arial"/>
              </a:rPr>
              <a:t>21</a:t>
            </a:r>
          </a:p>
        </p:txBody>
      </p:sp>
      <p:sp>
        <p:nvSpPr>
          <p:cNvPr id="17417" name="curated standards">
            <a:extLst xmlns:a="http://schemas.openxmlformats.org/drawingml/2006/main">
              <a:ext uri="{FF2B5EF4-FFF2-40B4-BE49-F238E27FC236}">
                <a16:creationId xmlns:a16="http://schemas.microsoft.com/office/drawing/2014/main" id="{DA4B661C-C451-48A6-840A-C1014190FD73}"/>
              </a:ext>
            </a:extLst>
          </p:cNvPr>
          <p:cNvSpPr>
            <a:spLocks xmlns:a="http://schemas.openxmlformats.org/drawingml/2006/main" noGrp="1"/>
          </p:cNvSpPr>
          <p:nvPr/>
        </p:nvSpPr>
        <p:spPr>
          <a:xfrm xmlns:a="http://schemas.openxmlformats.org/drawingml/2006/main">
            <a:off x="457200" y="25431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538"/>
                </a:solidFill>
                <a:latin typeface="Arial"/>
                <a:ea typeface="Arial"/>
                <a:cs typeface="Arial"/>
              </a:defRPr>
            </a:pPr>
            <a:r>
              <a:rPr sz="1725" b="0">
                <a:solidFill>
                  <a:srgbClr val="172538"/>
                </a:solidFill>
                <a:latin typeface="Arial"/>
                <a:ea typeface="Arial"/>
                <a:cs typeface="Arial"/>
              </a:rPr>
              <a:t>curated standards</a:t>
            </a:r>
          </a:p>
        </p:txBody>
      </p:sp>
      <p:sp>
        <p:nvSpPr>
          <p:cNvPr id="17418" name="2">
            <a:extLst xmlns:a="http://schemas.openxmlformats.org/drawingml/2006/main">
              <a:ext uri="{FF2B5EF4-FFF2-40B4-BE49-F238E27FC236}">
                <a16:creationId xmlns:a16="http://schemas.microsoft.com/office/drawing/2014/main" id="{BE71B9BB-4276-417D-93CB-96ADBDB82678}"/>
              </a:ext>
            </a:extLst>
          </p:cNvPr>
          <p:cNvSpPr>
            <a:spLocks xmlns:a="http://schemas.openxmlformats.org/drawingml/2006/main" noGrp="1"/>
          </p:cNvSpPr>
          <p:nvPr/>
        </p:nvSpPr>
        <p:spPr>
          <a:xfrm xmlns:a="http://schemas.openxmlformats.org/drawingml/2006/main">
            <a:off x="3495675" y="1924050"/>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214E82"/>
                </a:solidFill>
                <a:latin typeface="Arial"/>
                <a:ea typeface="Arial"/>
                <a:cs typeface="Arial"/>
              </a:defRPr>
            </a:pPr>
            <a:r>
              <a:rPr sz="4050" b="1">
                <a:solidFill>
                  <a:srgbClr val="214E82"/>
                </a:solidFill>
                <a:latin typeface="Arial"/>
                <a:ea typeface="Arial"/>
                <a:cs typeface="Arial"/>
              </a:rPr>
              <a:t>2</a:t>
            </a:r>
          </a:p>
        </p:txBody>
      </p:sp>
      <p:sp>
        <p:nvSpPr>
          <p:cNvPr id="17419" name="languages and user modes">
            <a:extLst xmlns:a="http://schemas.openxmlformats.org/drawingml/2006/main">
              <a:ext uri="{FF2B5EF4-FFF2-40B4-BE49-F238E27FC236}">
                <a16:creationId xmlns:a16="http://schemas.microsoft.com/office/drawing/2014/main" id="{C8F4E4AC-5424-4B05-87D4-F31D6A03F07B}"/>
              </a:ext>
            </a:extLst>
          </p:cNvPr>
          <p:cNvSpPr>
            <a:spLocks xmlns:a="http://schemas.openxmlformats.org/drawingml/2006/main" noGrp="1"/>
          </p:cNvSpPr>
          <p:nvPr/>
        </p:nvSpPr>
        <p:spPr>
          <a:xfrm xmlns:a="http://schemas.openxmlformats.org/drawingml/2006/main">
            <a:off x="3495675" y="25431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538"/>
                </a:solidFill>
                <a:latin typeface="Arial"/>
                <a:ea typeface="Arial"/>
                <a:cs typeface="Arial"/>
              </a:defRPr>
            </a:pPr>
            <a:r>
              <a:rPr sz="1725" b="0">
                <a:solidFill>
                  <a:srgbClr val="172538"/>
                </a:solidFill>
                <a:latin typeface="Arial"/>
                <a:ea typeface="Arial"/>
                <a:cs typeface="Arial"/>
              </a:rPr>
              <a:t>languages and user modes</a:t>
            </a:r>
          </a:p>
        </p:txBody>
      </p:sp>
      <p:sp>
        <p:nvSpPr>
          <p:cNvPr id="17420" name="32 / 32">
            <a:extLst xmlns:a="http://schemas.openxmlformats.org/drawingml/2006/main">
              <a:ext uri="{FF2B5EF4-FFF2-40B4-BE49-F238E27FC236}">
                <a16:creationId xmlns:a16="http://schemas.microsoft.com/office/drawing/2014/main" id="{AC9B7D05-791F-4DF6-8343-CC1DCC297490}"/>
              </a:ext>
            </a:extLst>
          </p:cNvPr>
          <p:cNvSpPr>
            <a:spLocks xmlns:a="http://schemas.openxmlformats.org/drawingml/2006/main" noGrp="1"/>
          </p:cNvSpPr>
          <p:nvPr/>
        </p:nvSpPr>
        <p:spPr>
          <a:xfrm xmlns:a="http://schemas.openxmlformats.org/drawingml/2006/main">
            <a:off x="7620000" y="19240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214E82"/>
                </a:solidFill>
                <a:latin typeface="Arial"/>
                <a:ea typeface="Arial"/>
                <a:cs typeface="Arial"/>
              </a:defRPr>
            </a:pPr>
            <a:r>
              <a:rPr sz="4050" b="1">
                <a:solidFill>
                  <a:srgbClr val="214E82"/>
                </a:solidFill>
                <a:latin typeface="Arial"/>
                <a:ea typeface="Arial"/>
                <a:cs typeface="Arial"/>
              </a:rPr>
              <a:t>32 / 32</a:t>
            </a:r>
          </a:p>
        </p:txBody>
      </p:sp>
      <p:sp>
        <p:nvSpPr>
          <p:cNvPr id="17421" name="automated tests passed">
            <a:extLst xmlns:a="http://schemas.openxmlformats.org/drawingml/2006/main">
              <a:ext uri="{FF2B5EF4-FFF2-40B4-BE49-F238E27FC236}">
                <a16:creationId xmlns:a16="http://schemas.microsoft.com/office/drawing/2014/main" id="{A5562BE1-E9D7-4CB9-938C-64C8E5E2E595}"/>
              </a:ext>
            </a:extLst>
          </p:cNvPr>
          <p:cNvSpPr>
            <a:spLocks xmlns:a="http://schemas.openxmlformats.org/drawingml/2006/main" noGrp="1"/>
          </p:cNvSpPr>
          <p:nvPr/>
        </p:nvSpPr>
        <p:spPr>
          <a:xfrm xmlns:a="http://schemas.openxmlformats.org/drawingml/2006/main">
            <a:off x="7620000" y="254317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538"/>
                </a:solidFill>
                <a:latin typeface="Arial"/>
                <a:ea typeface="Arial"/>
                <a:cs typeface="Arial"/>
              </a:defRPr>
            </a:pPr>
            <a:r>
              <a:rPr sz="1725" b="0">
                <a:solidFill>
                  <a:srgbClr val="172538"/>
                </a:solidFill>
                <a:latin typeface="Arial"/>
                <a:ea typeface="Arial"/>
                <a:cs typeface="Arial"/>
              </a:rPr>
              <a:t>automated tests passed</a:t>
            </a:r>
          </a:p>
        </p:txBody>
      </p:sp>
      <p:graphicFrame>
        <p:nvGraphicFramePr>
          <p:cNvPr id="17438" name=""/>
          <p:cNvGraphicFramePr/>
          <p:nvPr/>
        </p:nvGraphicFramePr>
        <p:xfrm>
          <a:off xmlns:a="http://schemas.openxmlformats.org/drawingml/2006/main" x="457200" y="3067050"/>
          <a:ext xmlns:a="http://schemas.openxmlformats.org/drawingml/2006/main" cx="11277600" cy="2152650"/>
        </p:xfrm>
        <a:graphic xmlns:a="http://schemas.openxmlformats.org/drawingml/2006/main">
          <a:graphicData uri="http://schemas.openxmlformats.org/drawingml/2006/table">
            <a:tbl>
              <a:tblPr firstRow="0" bandRow="0"/>
              <a:tblGrid>
                <a:gridCol w="3333750"/>
                <a:gridCol w="7943850"/>
              </a:tblGrid>
              <a:tr h="538163">
                <a:tc>
                  <a:txBody>
                    <a:bodyPr lIns="133350" tIns="95250" rIns="133350" bIns="95250">
                      <a:noAutofit/>
                    </a:bodyPr>
                    <a:lstStyle/>
                    <a:p>
                      <a:pPr algn="l"/>
                      <a:r>
                        <a:rPr sz="1725" b="1">
                          <a:solidFill>
                            <a:srgbClr val="FFFFFF"/>
                          </a:solidFill>
                          <a:latin typeface="Arial"/>
                          <a:ea typeface="Arial"/>
                          <a:cs typeface="Arial"/>
                        </a:rPr>
                        <a:t>Risk or dependency</a:t>
                      </a:r>
                    </a:p>
                  </a:txBody>
                  <a:tcPr marL="91440" marR="91440" marT="45720" marB="45720" anchor="ctr">
                    <a:solidFill>
                      <a:srgbClr val="214E82"/>
                    </a:solidFill>
                  </a:tcPr>
                </a:tc>
                <a:tc>
                  <a:txBody>
                    <a:bodyPr lIns="133350" tIns="95250" rIns="133350" bIns="95250">
                      <a:noAutofit/>
                    </a:bodyPr>
                    <a:lstStyle/>
                    <a:p>
                      <a:pPr algn="l"/>
                      <a:r>
                        <a:rPr sz="1725" b="1">
                          <a:solidFill>
                            <a:srgbClr val="FFFFFF"/>
                          </a:solidFill>
                          <a:latin typeface="Arial"/>
                          <a:ea typeface="Arial"/>
                          <a:cs typeface="Arial"/>
                        </a:rPr>
                        <a:t>Control proposed for the pilot</a:t>
                      </a:r>
                    </a:p>
                  </a:txBody>
                  <a:tcPr marL="91440" marR="91440" marT="45720" marB="45720" anchor="ctr">
                    <a:solidFill>
                      <a:srgbClr val="214E82"/>
                    </a:solidFill>
                  </a:tcPr>
                </a:tc>
              </a:tr>
              <a:tr h="538163">
                <a:tc>
                  <a:txBody>
                    <a:bodyPr lIns="133350" tIns="95250" rIns="133350" bIns="95250">
                      <a:noAutofit/>
                    </a:bodyPr>
                    <a:lstStyle/>
                    <a:p>
                      <a:pPr algn="l"/>
                      <a:r>
                        <a:rPr sz="1725" b="0">
                          <a:solidFill>
                            <a:srgbClr val="172538"/>
                          </a:solidFill>
                          <a:latin typeface="Arial"/>
                          <a:ea typeface="Arial"/>
                          <a:cs typeface="Arial"/>
                        </a:rPr>
                        <a:t>Wrong or outdated guidance</a:t>
                      </a:r>
                    </a:p>
                  </a:txBody>
                  <a:tcPr marL="91440" marR="91440" marT="45720" marB="45720" anchor="ctr">
                    <a:solidFill>
                      <a:srgbClr val="EFF5FA"/>
                    </a:solidFill>
                  </a:tcPr>
                </a:tc>
                <a:tc>
                  <a:txBody>
                    <a:bodyPr lIns="133350" tIns="95250" rIns="133350" bIns="95250">
                      <a:noAutofit/>
                    </a:bodyPr>
                    <a:lstStyle/>
                    <a:p>
                      <a:pPr algn="l"/>
                      <a:r>
                        <a:rPr sz="1725" b="0">
                          <a:solidFill>
                            <a:srgbClr val="172538"/>
                          </a:solidFill>
                          <a:latin typeface="Arial"/>
                          <a:ea typeface="Arial"/>
                          <a:cs typeface="Arial"/>
                        </a:rPr>
                        <a:t>BIS-reviewed records, version dates and evidence checks</a:t>
                      </a:r>
                    </a:p>
                  </a:txBody>
                  <a:tcPr marL="91440" marR="91440" marT="45720" marB="45720" anchor="ctr">
                    <a:solidFill>
                      <a:srgbClr val="EFF5FA"/>
                    </a:solidFill>
                  </a:tcPr>
                </a:tc>
              </a:tr>
              <a:tr h="538163">
                <a:tc>
                  <a:txBody>
                    <a:bodyPr lIns="133350" tIns="95250" rIns="133350" bIns="95250">
                      <a:noAutofit/>
                    </a:bodyPr>
                    <a:lstStyle/>
                    <a:p>
                      <a:pPr algn="l"/>
                      <a:r>
                        <a:rPr sz="1725" b="0">
                          <a:solidFill>
                            <a:srgbClr val="172538"/>
                          </a:solidFill>
                          <a:latin typeface="Arial"/>
                          <a:ea typeface="Arial"/>
                          <a:cs typeface="Arial"/>
                        </a:rPr>
                        <a:t>Incomplete licence coverage</a:t>
                      </a:r>
                    </a:p>
                  </a:txBody>
                  <a:tcPr marL="91440" marR="91440" marT="45720" marB="45720" anchor="ctr">
                    <a:solidFill>
                      <a:srgbClr val="FFFFFF"/>
                    </a:solidFill>
                  </a:tcPr>
                </a:tc>
                <a:tc>
                  <a:txBody>
                    <a:bodyPr lIns="133350" tIns="95250" rIns="133350" bIns="95250">
                      <a:noAutofit/>
                    </a:bodyPr>
                    <a:lstStyle/>
                    <a:p>
                      <a:pPr algn="l"/>
                      <a:r>
                        <a:rPr sz="1725" b="0">
                          <a:solidFill>
                            <a:srgbClr val="172538"/>
                          </a:solidFill>
                          <a:latin typeface="Arial"/>
                          <a:ea typeface="Arial"/>
                          <a:cs typeface="Arial"/>
                        </a:rPr>
                        <a:t>Official lookup handoff. Missing data means “unconfirmed”</a:t>
                      </a:r>
                    </a:p>
                  </a:txBody>
                  <a:tcPr marL="91440" marR="91440" marT="45720" marB="45720" anchor="ctr">
                    <a:solidFill>
                      <a:srgbClr val="FFFFFF"/>
                    </a:solidFill>
                  </a:tcPr>
                </a:tc>
              </a:tr>
              <a:tr h="538163">
                <a:tc>
                  <a:txBody>
                    <a:bodyPr lIns="133350" tIns="95250" rIns="133350" bIns="95250">
                      <a:noAutofit/>
                    </a:bodyPr>
                    <a:lstStyle/>
                    <a:p>
                      <a:pPr algn="l"/>
                      <a:r>
                        <a:rPr sz="1725" b="0">
                          <a:solidFill>
                            <a:srgbClr val="172538"/>
                          </a:solidFill>
                          <a:latin typeface="Arial"/>
                          <a:ea typeface="Arial"/>
                          <a:cs typeface="Arial"/>
                        </a:rPr>
                        <a:t>API outages and rising usage cost</a:t>
                      </a:r>
                    </a:p>
                  </a:txBody>
                  <a:tcPr marL="91440" marR="91440" marT="45720" marB="45720" anchor="ctr">
                    <a:solidFill>
                      <a:srgbClr val="EFF5FA"/>
                    </a:solidFill>
                  </a:tcPr>
                </a:tc>
                <a:tc>
                  <a:txBody>
                    <a:bodyPr lIns="133350" tIns="95250" rIns="133350" bIns="95250">
                      <a:noAutofit/>
                    </a:bodyPr>
                    <a:lstStyle/>
                    <a:p>
                      <a:pPr algn="l"/>
                      <a:r>
                        <a:rPr sz="1725" b="0">
                          <a:solidFill>
                            <a:srgbClr val="172538"/>
                          </a:solidFill>
                          <a:latin typeface="Arial"/>
                          <a:ea typeface="Arial"/>
                          <a:cs typeface="Arial"/>
                        </a:rPr>
                        <a:t>Fallback disclosure, quotas, caching and cost tracking</a:t>
                      </a:r>
                    </a:p>
                  </a:txBody>
                  <a:tcPr marL="91440" marR="91440" marT="45720" marB="45720" anchor="ctr">
                    <a:solidFill>
                      <a:srgbClr val="EFF5FA"/>
                    </a:solidFill>
                  </a:tcPr>
                </a:tc>
              </a:tr>
            </a:tbl>
          </a:graphicData>
        </a:graphic>
      </p:graphicFrame>
      <p:sp>
        <p:nvSpPr>
          <p:cNvPr id="17423" name="Six-week pilot plan (proposed)">
            <a:extLst xmlns:a="http://schemas.openxmlformats.org/drawingml/2006/main">
              <a:ext uri="{FF2B5EF4-FFF2-40B4-BE49-F238E27FC236}">
                <a16:creationId xmlns:a16="http://schemas.microsoft.com/office/drawing/2014/main" id="{075E5CE1-005E-4895-8608-8A888C02D63A}"/>
              </a:ext>
            </a:extLst>
          </p:cNvPr>
          <p:cNvSpPr>
            <a:spLocks xmlns:a="http://schemas.openxmlformats.org/drawingml/2006/main" noGrp="1"/>
          </p:cNvSpPr>
          <p:nvPr/>
        </p:nvSpPr>
        <p:spPr>
          <a:xfrm xmlns:a="http://schemas.openxmlformats.org/drawingml/2006/main">
            <a:off x="457200" y="542925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14E82"/>
                </a:solidFill>
                <a:latin typeface="Arial"/>
                <a:ea typeface="Arial"/>
                <a:cs typeface="Arial"/>
              </a:defRPr>
            </a:pPr>
            <a:r>
              <a:rPr sz="1875" b="1">
                <a:solidFill>
                  <a:srgbClr val="214E82"/>
                </a:solidFill>
                <a:latin typeface="Arial"/>
                <a:ea typeface="Arial"/>
                <a:cs typeface="Arial"/>
              </a:rPr>
              <a:t>Six-week pilot plan (proposed)</a:t>
            </a:r>
          </a:p>
        </p:txBody>
      </p:sp>
      <p:sp>
        <p:nvSpPr>
          <p:cNvPr id="17424" name="Weeks 1–2: audit sources     Weeks 3–4: test with ">
            <a:extLst xmlns:a="http://schemas.openxmlformats.org/drawingml/2006/main">
              <a:ext uri="{FF2B5EF4-FFF2-40B4-BE49-F238E27FC236}">
                <a16:creationId xmlns:a16="http://schemas.microsoft.com/office/drawing/2014/main" id="{D27D3AA4-7BC6-428F-9762-BD792A6B73F9}"/>
              </a:ext>
            </a:extLst>
          </p:cNvPr>
          <p:cNvSpPr>
            <a:spLocks xmlns:a="http://schemas.openxmlformats.org/drawingml/2006/main" noGrp="1"/>
          </p:cNvSpPr>
          <p:nvPr/>
        </p:nvSpPr>
        <p:spPr>
          <a:xfrm xmlns:a="http://schemas.openxmlformats.org/drawingml/2006/main">
            <a:off x="457200" y="5829300"/>
            <a:ext cx="1114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2538"/>
                </a:solidFill>
                <a:latin typeface="Arial"/>
                <a:ea typeface="Arial"/>
                <a:cs typeface="Arial"/>
              </a:defRPr>
            </a:pPr>
            <a:r>
              <a:rPr sz="1650" b="0">
                <a:solidFill>
                  <a:srgbClr val="172538"/>
                </a:solidFill>
                <a:latin typeface="Arial"/>
                <a:ea typeface="Arial"/>
                <a:cs typeface="Arial"/>
              </a:rPr>
              <a:t>Weeks 1–2: audit sources     Weeks 3–4: test with users     Weeks 5–6: measure and expand</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18ACBED8-67AE-47B4-85A5-181E295F89E6}"/>
              </a:ext>
            </a:extLst>
          </p:cNvPr>
          <p:cNvSpPr>
            <a:spLocks xmlns:a="http://schemas.openxmlformats.org/drawingml/2006/main" noGrp="1"/>
          </p:cNvSpPr>
          <p:nvPr>
            <p:ph type="title" idx="0"/>
          </p:nvPr>
        </p:nvSpPr>
        <p:spPr>
          <a:xfrm xmlns:a="http://schemas.openxmlformats.org/drawingml/2006/main">
            <a:off x="1952625" y="200025"/>
            <a:ext cx="7743825" cy="828675"/>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375" b="1">
                <a:solidFill>
                  <a:srgbClr val="000000"/>
                </a:solidFill>
                <a:latin typeface="Times New Roman"/>
                <a:ea typeface="Times New Roman"/>
                <a:cs typeface="Times New Roman"/>
              </a:defRPr>
            </a:pPr>
            <a:r>
              <a:rPr sz="3375"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34299630-6725-4EDF-8712-207A0DCD48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17412" name="Logic Lords template team badge">
            <a:extLst xmlns:a="http://schemas.openxmlformats.org/drawingml/2006/main">
              <a:ext uri="{FF2B5EF4-FFF2-40B4-BE49-F238E27FC236}">
                <a16:creationId xmlns:a16="http://schemas.microsoft.com/office/drawing/2014/main" id="{632F6D71-74AA-4C27-963B-CDA8889F75C0}"/>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Logic</a:t>
            </a:r>
          </a:p>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Lords</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59d41f5751824b6e"/>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4" name="@SIH Idea submission- Template">
            <a:extLst xmlns:a="http://schemas.openxmlformats.org/drawingml/2006/main">
              <a:ext uri="{FF2B5EF4-FFF2-40B4-BE49-F238E27FC236}">
                <a16:creationId xmlns:a16="http://schemas.microsoft.com/office/drawing/2014/main" id="{D4C32478-8F22-4CA6-BA44-F49A8FA9A04E}"/>
              </a:ext>
            </a:extLst>
          </p:cNvPr>
          <p:cNvSpPr>
            <a:spLocks xmlns:a="http://schemas.openxmlformats.org/drawingml/2006/main" noGrp="1"/>
          </p:cNvSpPr>
          <p:nvPr/>
        </p:nvSpPr>
        <p:spPr>
          <a:xfrm xmlns:a="http://schemas.openxmlformats.org/drawingml/2006/main">
            <a:off x="4648200" y="64293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15" name="Potential benefits for the people who use standard">
            <a:extLst xmlns:a="http://schemas.openxmlformats.org/drawingml/2006/main">
              <a:ext uri="{FF2B5EF4-FFF2-40B4-BE49-F238E27FC236}">
                <a16:creationId xmlns:a16="http://schemas.microsoft.com/office/drawing/2014/main" id="{2E50EAF2-3922-41DC-820D-FDA14E1A391E}"/>
              </a:ext>
            </a:extLst>
          </p:cNvPr>
          <p:cNvSpPr>
            <a:spLocks xmlns:a="http://schemas.openxmlformats.org/drawingml/2006/main" noGrp="1"/>
          </p:cNvSpPr>
          <p:nvPr/>
        </p:nvSpPr>
        <p:spPr>
          <a:xfrm xmlns:a="http://schemas.openxmlformats.org/drawingml/2006/main">
            <a:off x="457200" y="1362075"/>
            <a:ext cx="11258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14E82"/>
                </a:solidFill>
                <a:latin typeface="Arial"/>
                <a:ea typeface="Arial"/>
                <a:cs typeface="Arial"/>
              </a:defRPr>
            </a:pPr>
            <a:r>
              <a:rPr sz="2325" b="1">
                <a:solidFill>
                  <a:srgbClr val="214E82"/>
                </a:solidFill>
                <a:latin typeface="Arial"/>
                <a:ea typeface="Arial"/>
                <a:cs typeface="Arial"/>
              </a:rPr>
              <a:t>Potential benefits for the people who use standards</a:t>
            </a:r>
          </a:p>
        </p:txBody>
      </p:sp>
      <p:sp>
        <p:nvSpPr>
          <p:cNvPr id="17416" name="Consumers">
            <a:extLst xmlns:a="http://schemas.openxmlformats.org/drawingml/2006/main">
              <a:ext uri="{FF2B5EF4-FFF2-40B4-BE49-F238E27FC236}">
                <a16:creationId xmlns:a16="http://schemas.microsoft.com/office/drawing/2014/main" id="{6EAF5F7D-1DA6-4845-81A7-302D2D2C358A}"/>
              </a:ext>
            </a:extLst>
          </p:cNvPr>
          <p:cNvSpPr>
            <a:spLocks xmlns:a="http://schemas.openxmlformats.org/drawingml/2006/main" noGrp="1"/>
          </p:cNvSpPr>
          <p:nvPr/>
        </p:nvSpPr>
        <p:spPr>
          <a:xfrm xmlns:a="http://schemas.openxmlformats.org/drawingml/2006/main">
            <a:off x="457200" y="20383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14E82"/>
                </a:solidFill>
                <a:latin typeface="Arial"/>
                <a:ea typeface="Arial"/>
                <a:cs typeface="Arial"/>
              </a:defRPr>
            </a:pPr>
            <a:r>
              <a:rPr sz="2175" b="1">
                <a:solidFill>
                  <a:srgbClr val="214E82"/>
                </a:solidFill>
                <a:latin typeface="Arial"/>
                <a:ea typeface="Arial"/>
                <a:cs typeface="Arial"/>
              </a:rPr>
              <a:t>Consumers</a:t>
            </a:r>
          </a:p>
        </p:txBody>
      </p:sp>
      <p:sp>
        <p:nvSpPr>
          <p:cNvPr id="17417" name="Understand the mark and&#10;reach official verificatio">
            <a:extLst xmlns:a="http://schemas.openxmlformats.org/drawingml/2006/main">
              <a:ext uri="{FF2B5EF4-FFF2-40B4-BE49-F238E27FC236}">
                <a16:creationId xmlns:a16="http://schemas.microsoft.com/office/drawing/2014/main" id="{014E37BC-870E-4E46-86A6-5C2E41B71CA8}"/>
              </a:ext>
            </a:extLst>
          </p:cNvPr>
          <p:cNvSpPr>
            <a:spLocks xmlns:a="http://schemas.openxmlformats.org/drawingml/2006/main" noGrp="1"/>
          </p:cNvSpPr>
          <p:nvPr/>
        </p:nvSpPr>
        <p:spPr>
          <a:xfrm xmlns:a="http://schemas.openxmlformats.org/drawingml/2006/main">
            <a:off x="457200" y="2505075"/>
            <a:ext cx="33718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Understand the mark and</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reach official verification.</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Hindi explanations and</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audio improve access.</a:t>
            </a:r>
          </a:p>
        </p:txBody>
      </p:sp>
      <p:sp>
        <p:nvSpPr>
          <p:cNvPr id="17418" name="MSMEs">
            <a:extLst xmlns:a="http://schemas.openxmlformats.org/drawingml/2006/main">
              <a:ext uri="{FF2B5EF4-FFF2-40B4-BE49-F238E27FC236}">
                <a16:creationId xmlns:a16="http://schemas.microsoft.com/office/drawing/2014/main" id="{F21F7FB5-B339-4C66-8FBA-385F259B5C6B}"/>
              </a:ext>
            </a:extLst>
          </p:cNvPr>
          <p:cNvSpPr>
            <a:spLocks xmlns:a="http://schemas.openxmlformats.org/drawingml/2006/main" noGrp="1"/>
          </p:cNvSpPr>
          <p:nvPr/>
        </p:nvSpPr>
        <p:spPr>
          <a:xfrm xmlns:a="http://schemas.openxmlformats.org/drawingml/2006/main">
            <a:off x="4333875" y="20383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14E82"/>
                </a:solidFill>
                <a:latin typeface="Arial"/>
                <a:ea typeface="Arial"/>
                <a:cs typeface="Arial"/>
              </a:defRPr>
            </a:pPr>
            <a:r>
              <a:rPr sz="2175" b="1">
                <a:solidFill>
                  <a:srgbClr val="214E82"/>
                </a:solidFill>
                <a:latin typeface="Arial"/>
                <a:ea typeface="Arial"/>
                <a:cs typeface="Arial"/>
              </a:rPr>
              <a:t>MSMEs</a:t>
            </a:r>
          </a:p>
        </p:txBody>
      </p:sp>
      <p:sp>
        <p:nvSpPr>
          <p:cNvPr id="17419" name="Find applicable standards&#10;and testing information.">
            <a:extLst xmlns:a="http://schemas.openxmlformats.org/drawingml/2006/main">
              <a:ext uri="{FF2B5EF4-FFF2-40B4-BE49-F238E27FC236}">
                <a16:creationId xmlns:a16="http://schemas.microsoft.com/office/drawing/2014/main" id="{4E3019BD-ED71-43A5-9669-65CCA82210C2}"/>
              </a:ext>
            </a:extLst>
          </p:cNvPr>
          <p:cNvSpPr>
            <a:spLocks xmlns:a="http://schemas.openxmlformats.org/drawingml/2006/main" noGrp="1"/>
          </p:cNvSpPr>
          <p:nvPr/>
        </p:nvSpPr>
        <p:spPr>
          <a:xfrm xmlns:a="http://schemas.openxmlformats.org/drawingml/2006/main">
            <a:off x="4333875" y="2505075"/>
            <a:ext cx="34004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Find applicable standards</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and testing information.</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Reduce repeated searches</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before certification work.</a:t>
            </a:r>
          </a:p>
        </p:txBody>
      </p:sp>
      <p:sp>
        <p:nvSpPr>
          <p:cNvPr id="17420" name="Public service teams">
            <a:extLst xmlns:a="http://schemas.openxmlformats.org/drawingml/2006/main">
              <a:ext uri="{FF2B5EF4-FFF2-40B4-BE49-F238E27FC236}">
                <a16:creationId xmlns:a16="http://schemas.microsoft.com/office/drawing/2014/main" id="{6AF89C96-F274-4098-B022-F57D15D235D4}"/>
              </a:ext>
            </a:extLst>
          </p:cNvPr>
          <p:cNvSpPr>
            <a:spLocks xmlns:a="http://schemas.openxmlformats.org/drawingml/2006/main" noGrp="1"/>
          </p:cNvSpPr>
          <p:nvPr/>
        </p:nvSpPr>
        <p:spPr>
          <a:xfrm xmlns:a="http://schemas.openxmlformats.org/drawingml/2006/main">
            <a:off x="8210550" y="2038350"/>
            <a:ext cx="3457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14E82"/>
                </a:solidFill>
                <a:latin typeface="Arial"/>
                <a:ea typeface="Arial"/>
                <a:cs typeface="Arial"/>
              </a:defRPr>
            </a:pPr>
            <a:r>
              <a:rPr sz="2175" b="1">
                <a:solidFill>
                  <a:srgbClr val="214E82"/>
                </a:solidFill>
                <a:latin typeface="Arial"/>
                <a:ea typeface="Arial"/>
                <a:cs typeface="Arial"/>
              </a:rPr>
              <a:t>Public service teams</a:t>
            </a:r>
          </a:p>
        </p:txBody>
      </p:sp>
      <p:sp>
        <p:nvSpPr>
          <p:cNvPr id="17421" name="Guide routine questions&#10;to the right service.&#10;Help">
            <a:extLst xmlns:a="http://schemas.openxmlformats.org/drawingml/2006/main">
              <a:ext uri="{FF2B5EF4-FFF2-40B4-BE49-F238E27FC236}">
                <a16:creationId xmlns:a16="http://schemas.microsoft.com/office/drawing/2014/main" id="{97D355A2-CD25-4895-B9FF-499F150E0D32}"/>
              </a:ext>
            </a:extLst>
          </p:cNvPr>
          <p:cNvSpPr>
            <a:spLocks xmlns:a="http://schemas.openxmlformats.org/drawingml/2006/main" noGrp="1"/>
          </p:cNvSpPr>
          <p:nvPr/>
        </p:nvSpPr>
        <p:spPr>
          <a:xfrm xmlns:a="http://schemas.openxmlformats.org/drawingml/2006/main">
            <a:off x="8210550" y="2505075"/>
            <a:ext cx="34575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Guide routine questions</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to the right service.</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Help users understand</a:t>
            </a:r>
          </a:p>
          <a:p xmlns:a="http://schemas.openxmlformats.org/drawingml/2006/main">
            <a:pPr algn="l">
              <a:defRPr sz="1875" b="0">
                <a:solidFill>
                  <a:srgbClr val="172538"/>
                </a:solidFill>
                <a:latin typeface="Arial"/>
                <a:ea typeface="Arial"/>
                <a:cs typeface="Arial"/>
              </a:defRPr>
            </a:pPr>
            <a:r>
              <a:rPr sz="1875" b="0">
                <a:solidFill>
                  <a:srgbClr val="172538"/>
                </a:solidFill>
                <a:latin typeface="Arial"/>
                <a:ea typeface="Arial"/>
                <a:cs typeface="Arial"/>
              </a:rPr>
              <a:t>what to do next.</a:t>
            </a:r>
          </a:p>
        </p:txBody>
      </p:sp>
      <p:sp>
        <p:nvSpPr>
          <p:cNvPr id="17422" name="Pilot evaluation: 20 consumers + 10 MSME users">
            <a:extLst xmlns:a="http://schemas.openxmlformats.org/drawingml/2006/main">
              <a:ext uri="{FF2B5EF4-FFF2-40B4-BE49-F238E27FC236}">
                <a16:creationId xmlns:a16="http://schemas.microsoft.com/office/drawing/2014/main" id="{F00374E2-3859-4CAC-AD66-17571F02FD0B}"/>
              </a:ext>
            </a:extLst>
          </p:cNvPr>
          <p:cNvSpPr>
            <a:spLocks xmlns:a="http://schemas.openxmlformats.org/drawingml/2006/main" noGrp="1"/>
          </p:cNvSpPr>
          <p:nvPr/>
        </p:nvSpPr>
        <p:spPr>
          <a:xfrm xmlns:a="http://schemas.openxmlformats.org/drawingml/2006/main">
            <a:off x="457200" y="4181475"/>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14E82"/>
                </a:solidFill>
                <a:latin typeface="Arial"/>
                <a:ea typeface="Arial"/>
                <a:cs typeface="Arial"/>
              </a:defRPr>
            </a:pPr>
            <a:r>
              <a:rPr sz="2100" b="1">
                <a:solidFill>
                  <a:srgbClr val="214E82"/>
                </a:solidFill>
                <a:latin typeface="Arial"/>
                <a:ea typeface="Arial"/>
                <a:cs typeface="Arial"/>
              </a:rPr>
              <a:t>Pilot evaluation: 20 consumers + 10 MSME users</a:t>
            </a:r>
          </a:p>
        </p:txBody>
      </p:sp>
      <p:graphicFrame>
        <p:nvGraphicFramePr>
          <p:cNvPr id="17438" name=""/>
          <p:cNvGraphicFramePr/>
          <p:nvPr/>
        </p:nvGraphicFramePr>
        <p:xfrm>
          <a:off xmlns:a="http://schemas.openxmlformats.org/drawingml/2006/main" x="457200" y="4657725"/>
          <a:ext xmlns:a="http://schemas.openxmlformats.org/drawingml/2006/main" cx="11277600" cy="1466850"/>
        </p:xfrm>
        <a:graphic xmlns:a="http://schemas.openxmlformats.org/drawingml/2006/main">
          <a:graphicData uri="http://schemas.openxmlformats.org/drawingml/2006/table">
            <a:tbl>
              <a:tblPr firstRow="0" bandRow="0"/>
              <a:tblGrid>
                <a:gridCol w="3343275"/>
                <a:gridCol w="7934325"/>
              </a:tblGrid>
              <a:tr h="366713">
                <a:tc>
                  <a:txBody>
                    <a:bodyPr lIns="133350" tIns="95250" rIns="133350" bIns="95250">
                      <a:noAutofit/>
                    </a:bodyPr>
                    <a:lstStyle/>
                    <a:p>
                      <a:pPr algn="l"/>
                      <a:r>
                        <a:rPr sz="1575" b="1">
                          <a:solidFill>
                            <a:srgbClr val="FFFFFF"/>
                          </a:solidFill>
                          <a:latin typeface="Arial"/>
                          <a:ea typeface="Arial"/>
                          <a:cs typeface="Arial"/>
                        </a:rPr>
                        <a:t>Measure</a:t>
                      </a:r>
                    </a:p>
                  </a:txBody>
                  <a:tcPr marL="91440" marR="91440" marT="45720" marB="45720" anchor="ctr">
                    <a:solidFill>
                      <a:srgbClr val="214E82"/>
                    </a:solidFill>
                  </a:tcPr>
                </a:tc>
                <a:tc>
                  <a:txBody>
                    <a:bodyPr lIns="133350" tIns="95250" rIns="133350" bIns="95250">
                      <a:noAutofit/>
                    </a:bodyPr>
                    <a:lstStyle/>
                    <a:p>
                      <a:pPr algn="l"/>
                      <a:r>
                        <a:rPr sz="1575" b="1">
                          <a:solidFill>
                            <a:srgbClr val="FFFFFF"/>
                          </a:solidFill>
                          <a:latin typeface="Arial"/>
                          <a:ea typeface="Arial"/>
                          <a:cs typeface="Arial"/>
                        </a:rPr>
                        <a:t>Proposed target, not yet achieved</a:t>
                      </a:r>
                    </a:p>
                  </a:txBody>
                  <a:tcPr marL="91440" marR="91440" marT="45720" marB="45720" anchor="ctr">
                    <a:solidFill>
                      <a:srgbClr val="214E82"/>
                    </a:solidFill>
                  </a:tcPr>
                </a:tc>
              </a:tr>
              <a:tr h="366713">
                <a:tc>
                  <a:txBody>
                    <a:bodyPr lIns="133350" tIns="95250" rIns="133350" bIns="95250">
                      <a:noAutofit/>
                    </a:bodyPr>
                    <a:lstStyle/>
                    <a:p>
                      <a:pPr algn="l"/>
                      <a:r>
                        <a:rPr sz="1575" b="0">
                          <a:solidFill>
                            <a:srgbClr val="172538"/>
                          </a:solidFill>
                          <a:latin typeface="Arial"/>
                          <a:ea typeface="Arial"/>
                          <a:cs typeface="Arial"/>
                        </a:rPr>
                        <a:t>Task completion time</a:t>
                      </a:r>
                    </a:p>
                  </a:txBody>
                  <a:tcPr marL="91440" marR="91440" marT="45720" marB="45720" anchor="ctr">
                    <a:solidFill>
                      <a:srgbClr val="EFF5FA"/>
                    </a:solidFill>
                  </a:tcPr>
                </a:tc>
                <a:tc>
                  <a:txBody>
                    <a:bodyPr lIns="133350" tIns="95250" rIns="133350" bIns="95250">
                      <a:noAutofit/>
                    </a:bodyPr>
                    <a:lstStyle/>
                    <a:p>
                      <a:pPr algn="l"/>
                      <a:r>
                        <a:rPr sz="1575" b="0">
                          <a:solidFill>
                            <a:srgbClr val="172538"/>
                          </a:solidFill>
                          <a:latin typeface="Arial"/>
                          <a:ea typeface="Arial"/>
                          <a:cs typeface="Arial"/>
                        </a:rPr>
                        <a:t>50% lower median time than manual portal search</a:t>
                      </a:r>
                    </a:p>
                  </a:txBody>
                  <a:tcPr marL="91440" marR="91440" marT="45720" marB="45720" anchor="ctr">
                    <a:solidFill>
                      <a:srgbClr val="EFF5FA"/>
                    </a:solidFill>
                  </a:tcPr>
                </a:tc>
              </a:tr>
              <a:tr h="366713">
                <a:tc>
                  <a:txBody>
                    <a:bodyPr lIns="133350" tIns="95250" rIns="133350" bIns="95250">
                      <a:noAutofit/>
                    </a:bodyPr>
                    <a:lstStyle/>
                    <a:p>
                      <a:pPr algn="l"/>
                      <a:r>
                        <a:rPr sz="1575" b="0">
                          <a:solidFill>
                            <a:srgbClr val="172538"/>
                          </a:solidFill>
                          <a:latin typeface="Arial"/>
                          <a:ea typeface="Arial"/>
                          <a:cs typeface="Arial"/>
                        </a:rPr>
                        <a:t>Citation precision</a:t>
                      </a:r>
                    </a:p>
                  </a:txBody>
                  <a:tcPr marL="91440" marR="91440" marT="45720" marB="45720" anchor="ctr">
                    <a:solidFill>
                      <a:srgbClr val="FFFFFF"/>
                    </a:solidFill>
                  </a:tcPr>
                </a:tc>
                <a:tc>
                  <a:txBody>
                    <a:bodyPr lIns="133350" tIns="95250" rIns="133350" bIns="95250">
                      <a:noAutofit/>
                    </a:bodyPr>
                    <a:lstStyle/>
                    <a:p>
                      <a:pPr algn="l"/>
                      <a:r>
                        <a:rPr sz="1575" b="0">
                          <a:solidFill>
                            <a:srgbClr val="172538"/>
                          </a:solidFill>
                          <a:latin typeface="Arial"/>
                          <a:ea typeface="Arial"/>
                          <a:cs typeface="Arial"/>
                        </a:rPr>
                        <a:t>At least 95% relevant references on 100 reviewed queries</a:t>
                      </a:r>
                    </a:p>
                  </a:txBody>
                  <a:tcPr marL="91440" marR="91440" marT="45720" marB="45720" anchor="ctr">
                    <a:solidFill>
                      <a:srgbClr val="FFFFFF"/>
                    </a:solidFill>
                  </a:tcPr>
                </a:tc>
              </a:tr>
              <a:tr h="366713">
                <a:tc>
                  <a:txBody>
                    <a:bodyPr lIns="133350" tIns="95250" rIns="133350" bIns="95250">
                      <a:noAutofit/>
                    </a:bodyPr>
                    <a:lstStyle/>
                    <a:p>
                      <a:pPr algn="l"/>
                      <a:r>
                        <a:rPr sz="1575" b="0">
                          <a:solidFill>
                            <a:srgbClr val="172538"/>
                          </a:solidFill>
                          <a:latin typeface="Arial"/>
                          <a:ea typeface="Arial"/>
                          <a:cs typeface="Arial"/>
                        </a:rPr>
                        <a:t>Safety and accessibility</a:t>
                      </a:r>
                    </a:p>
                  </a:txBody>
                  <a:tcPr marL="91440" marR="91440" marT="45720" marB="45720" anchor="ctr">
                    <a:solidFill>
                      <a:srgbClr val="EFF5FA"/>
                    </a:solidFill>
                  </a:tcPr>
                </a:tc>
                <a:tc>
                  <a:txBody>
                    <a:bodyPr lIns="133350" tIns="95250" rIns="133350" bIns="95250">
                      <a:noAutofit/>
                    </a:bodyPr>
                    <a:lstStyle/>
                    <a:p>
                      <a:pPr algn="l"/>
                      <a:r>
                        <a:rPr sz="1575" b="0">
                          <a:solidFill>
                            <a:srgbClr val="172538"/>
                          </a:solidFill>
                          <a:latin typeface="Arial"/>
                          <a:ea typeface="Arial"/>
                          <a:cs typeface="Arial"/>
                        </a:rPr>
                        <a:t>No unsupported numeric limits in the reviewed set. Test both languages.</a:t>
                      </a:r>
                    </a:p>
                  </a:txBody>
                  <a:tcPr marL="91440" marR="91440" marT="45720" marB="45720" anchor="ctr">
                    <a:solidFill>
                      <a:srgbClr val="EFF5FA"/>
                    </a:solidFill>
                  </a:tcPr>
                </a:tc>
              </a:tr>
            </a:tbl>
          </a:graphicData>
        </a:graphic>
      </p:graphicFrame>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E44B03E-4201-4C38-A94E-D90C8E1F17D8}"/>
              </a:ext>
            </a:extLst>
          </p:cNvPr>
          <p:cNvSpPr>
            <a:spLocks xmlns:a="http://schemas.openxmlformats.org/drawingml/2006/main" noGrp="1"/>
          </p:cNvSpPr>
          <p:nvPr>
            <p:ph type="title" idx="0"/>
          </p:nvPr>
        </p:nvSpPr>
        <p:spPr>
          <a:xfrm xmlns:a="http://schemas.openxmlformats.org/drawingml/2006/main">
            <a:off x="1952625" y="200025"/>
            <a:ext cx="7743825" cy="828675"/>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EF8FFB98-5FEB-42F7-B6E1-B853F8978D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17412" name="Logic Lords template team badge">
            <a:extLst xmlns:a="http://schemas.openxmlformats.org/drawingml/2006/main">
              <a:ext uri="{FF2B5EF4-FFF2-40B4-BE49-F238E27FC236}">
                <a16:creationId xmlns:a16="http://schemas.microsoft.com/office/drawing/2014/main" id="{96485728-93FF-4065-B901-7F591AF9C74E}"/>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Logic</a:t>
            </a:r>
          </a:p>
          <a:p xmlns:a="http://schemas.openxmlformats.org/drawingml/2006/main">
            <a:pPr algn="ctr">
              <a:defRPr sz="1800" b="1">
                <a:solidFill>
                  <a:srgbClr val="000000"/>
                </a:solidFill>
                <a:latin typeface="Arial"/>
                <a:ea typeface="Arial"/>
                <a:cs typeface="Arial"/>
              </a:defRPr>
            </a:pPr>
            <a:r>
              <a:rPr sz="1800" b="1">
                <a:solidFill>
                  <a:srgbClr val="000000"/>
                </a:solidFill>
                <a:latin typeface="Arial"/>
                <a:ea typeface="Arial"/>
                <a:cs typeface="Arial"/>
              </a:rPr>
              <a:t>Lords</a:t>
            </a:r>
          </a:p>
        </p:txBody>
      </p:sp>
      <p:pic>
        <p:nvPicPr>
          <p:cNvPr id="17438" name=""/>
          <p:cNvPicPr>
            <a:picLocks xmlns:a="http://schemas.openxmlformats.org/drawingml/2006/main" noChangeAspect="1"/>
          </p:cNvPicPr>
          <p:nvPr/>
        </p:nvPicPr>
        <p:blipFill>
          <a:blip xmlns:r="http://schemas.openxmlformats.org/officeDocument/2006/relationships" xmlns:a="http://schemas.openxmlformats.org/drawingml/2006/main" r:embed="Ra45fac21e9cc43dc"/>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4" name="@SIH Idea submission- Template">
            <a:extLst xmlns:a="http://schemas.openxmlformats.org/drawingml/2006/main">
              <a:ext uri="{FF2B5EF4-FFF2-40B4-BE49-F238E27FC236}">
                <a16:creationId xmlns:a16="http://schemas.microsoft.com/office/drawing/2014/main" id="{55F16030-B09E-412D-A402-A00905C5D313}"/>
              </a:ext>
            </a:extLst>
          </p:cNvPr>
          <p:cNvSpPr>
            <a:spLocks xmlns:a="http://schemas.openxmlformats.org/drawingml/2006/main" noGrp="1"/>
          </p:cNvSpPr>
          <p:nvPr/>
        </p:nvSpPr>
        <p:spPr>
          <a:xfrm xmlns:a="http://schemas.openxmlformats.org/drawingml/2006/main">
            <a:off x="4648200" y="64293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15" name="Evidence base and official service links">
            <a:extLst xmlns:a="http://schemas.openxmlformats.org/drawingml/2006/main">
              <a:ext uri="{FF2B5EF4-FFF2-40B4-BE49-F238E27FC236}">
                <a16:creationId xmlns:a16="http://schemas.microsoft.com/office/drawing/2014/main" id="{F889FB77-9255-444B-865C-EA2E0E646778}"/>
              </a:ext>
            </a:extLst>
          </p:cNvPr>
          <p:cNvSpPr>
            <a:spLocks xmlns:a="http://schemas.openxmlformats.org/drawingml/2006/main" noGrp="1"/>
          </p:cNvSpPr>
          <p:nvPr/>
        </p:nvSpPr>
        <p:spPr>
          <a:xfrm xmlns:a="http://schemas.openxmlformats.org/drawingml/2006/main">
            <a:off x="457200" y="1371600"/>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14E82"/>
                </a:solidFill>
                <a:latin typeface="Arial"/>
                <a:ea typeface="Arial"/>
                <a:cs typeface="Arial"/>
              </a:defRPr>
            </a:pPr>
            <a:r>
              <a:rPr sz="2325" b="1">
                <a:solidFill>
                  <a:srgbClr val="214E82"/>
                </a:solidFill>
                <a:latin typeface="Arial"/>
                <a:ea typeface="Arial"/>
                <a:cs typeface="Arial"/>
              </a:rPr>
              <a:t>Evidence base and official service links</a:t>
            </a:r>
          </a:p>
        </p:txBody>
      </p:sp>
      <p:sp>
        <p:nvSpPr>
          <p:cNvPr id="17416" name="BIS: Know Your Standard">
            <a:extLst xmlns:a="http://schemas.openxmlformats.org/drawingml/2006/main">
              <a:ext uri="{FF2B5EF4-FFF2-40B4-BE49-F238E27FC236}">
                <a16:creationId xmlns:a16="http://schemas.microsoft.com/office/drawing/2014/main" id="{EFB3D7E1-F5BC-46EC-8AE7-929F4EB86F60}"/>
              </a:ext>
            </a:extLst>
          </p:cNvPr>
          <p:cNvSpPr>
            <a:spLocks xmlns:a="http://schemas.openxmlformats.org/drawingml/2006/main" noGrp="1"/>
          </p:cNvSpPr>
          <p:nvPr/>
        </p:nvSpPr>
        <p:spPr>
          <a:xfrm xmlns:a="http://schemas.openxmlformats.org/drawingml/2006/main">
            <a:off x="457200" y="208597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BIS: Know Your Standard</a:t>
            </a:r>
          </a:p>
        </p:txBody>
      </p:sp>
      <p:sp>
        <p:nvSpPr>
          <p:cNvPr id="17417" name="Official standards, amendments and related service">
            <a:extLst xmlns:a="http://schemas.openxmlformats.org/drawingml/2006/main">
              <a:ext uri="{FF2B5EF4-FFF2-40B4-BE49-F238E27FC236}">
                <a16:creationId xmlns:a16="http://schemas.microsoft.com/office/drawing/2014/main" id="{A5FB46DD-210D-4584-92F2-81243E10EAC4}"/>
              </a:ext>
            </a:extLst>
          </p:cNvPr>
          <p:cNvSpPr>
            <a:spLocks xmlns:a="http://schemas.openxmlformats.org/drawingml/2006/main" noGrp="1"/>
          </p:cNvSpPr>
          <p:nvPr/>
        </p:nvSpPr>
        <p:spPr>
          <a:xfrm xmlns:a="http://schemas.openxmlformats.org/drawingml/2006/main">
            <a:off x="457200" y="24955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538"/>
                </a:solidFill>
                <a:latin typeface="Arial"/>
                <a:ea typeface="Arial"/>
                <a:cs typeface="Arial"/>
              </a:defRPr>
            </a:pPr>
            <a:r>
              <a:rPr sz="1575" b="0">
                <a:solidFill>
                  <a:srgbClr val="172538"/>
                </a:solidFill>
                <a:latin typeface="Arial"/>
                <a:ea typeface="Arial"/>
                <a:cs typeface="Arial"/>
              </a:rPr>
              <a:t>Official standards, amendments and related services</a:t>
            </a:r>
          </a:p>
        </p:txBody>
      </p:sp>
      <p:sp>
        <p:nvSpPr>
          <p:cNvPr id="17418" name="bis.gov.in/know-your-standard">
            <a:extLst xmlns:a="http://schemas.openxmlformats.org/drawingml/2006/main">
              <a:ext uri="{FF2B5EF4-FFF2-40B4-BE49-F238E27FC236}">
                <a16:creationId xmlns:a16="http://schemas.microsoft.com/office/drawing/2014/main" id="{D2F0DE39-95C6-478A-B486-67E0EAFFF581}"/>
              </a:ext>
            </a:extLst>
          </p:cNvPr>
          <p:cNvSpPr>
            <a:spLocks xmlns:a="http://schemas.openxmlformats.org/drawingml/2006/main" noGrp="1"/>
          </p:cNvSpPr>
          <p:nvPr/>
        </p:nvSpPr>
        <p:spPr>
          <a:xfrm xmlns:a="http://schemas.openxmlformats.org/drawingml/2006/main">
            <a:off x="457200" y="30003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14E82"/>
                </a:solidFill>
                <a:latin typeface="Arial"/>
                <a:ea typeface="Arial"/>
                <a:cs typeface="Arial"/>
              </a:defRPr>
            </a:pPr>
            <a:r>
              <a:rPr sz="1425" b="0">
                <a:solidFill>
                  <a:srgbClr val="214E82"/>
                </a:solidFill>
                <a:latin typeface="Arial"/>
                <a:ea typeface="Arial"/>
                <a:cs typeface="Arial"/>
                <a:hlinkClick xmlns:r="http://schemas.openxmlformats.org/officeDocument/2006/relationships" r:id="Rf8f92141d0d34e5f"/>
              </a:rPr>
              <a:t>bis.gov.in/know-your-standard</a:t>
            </a:r>
          </a:p>
        </p:txBody>
      </p:sp>
      <p:sp>
        <p:nvSpPr>
          <p:cNvPr id="17419" name="BIS Care">
            <a:extLst xmlns:a="http://schemas.openxmlformats.org/drawingml/2006/main">
              <a:ext uri="{FF2B5EF4-FFF2-40B4-BE49-F238E27FC236}">
                <a16:creationId xmlns:a16="http://schemas.microsoft.com/office/drawing/2014/main" id="{0949E89E-E294-41F0-BC67-8C548259F8A4}"/>
              </a:ext>
            </a:extLst>
          </p:cNvPr>
          <p:cNvSpPr>
            <a:spLocks xmlns:a="http://schemas.openxmlformats.org/drawingml/2006/main" noGrp="1"/>
          </p:cNvSpPr>
          <p:nvPr/>
        </p:nvSpPr>
        <p:spPr>
          <a:xfrm xmlns:a="http://schemas.openxmlformats.org/drawingml/2006/main">
            <a:off x="457200" y="33528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BIS Care</a:t>
            </a:r>
          </a:p>
        </p:txBody>
      </p:sp>
      <p:sp>
        <p:nvSpPr>
          <p:cNvPr id="17420" name="Official licence and hallmark verification, compla">
            <a:extLst xmlns:a="http://schemas.openxmlformats.org/drawingml/2006/main">
              <a:ext uri="{FF2B5EF4-FFF2-40B4-BE49-F238E27FC236}">
                <a16:creationId xmlns:a16="http://schemas.microsoft.com/office/drawing/2014/main" id="{7D26EB2A-3A5A-46C1-AE78-401469206C70}"/>
              </a:ext>
            </a:extLst>
          </p:cNvPr>
          <p:cNvSpPr>
            <a:spLocks xmlns:a="http://schemas.openxmlformats.org/drawingml/2006/main" noGrp="1"/>
          </p:cNvSpPr>
          <p:nvPr/>
        </p:nvSpPr>
        <p:spPr>
          <a:xfrm xmlns:a="http://schemas.openxmlformats.org/drawingml/2006/main">
            <a:off x="457200" y="37623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538"/>
                </a:solidFill>
                <a:latin typeface="Arial"/>
                <a:ea typeface="Arial"/>
                <a:cs typeface="Arial"/>
              </a:defRPr>
            </a:pPr>
            <a:r>
              <a:rPr sz="1575" b="0">
                <a:solidFill>
                  <a:srgbClr val="172538"/>
                </a:solidFill>
                <a:latin typeface="Arial"/>
                <a:ea typeface="Arial"/>
                <a:cs typeface="Arial"/>
              </a:rPr>
              <a:t>Official licence and hallmark verification, complaints</a:t>
            </a:r>
          </a:p>
        </p:txBody>
      </p:sp>
      <p:sp>
        <p:nvSpPr>
          <p:cNvPr id="17421" name="bis.gov.in/bis-apps">
            <a:extLst xmlns:a="http://schemas.openxmlformats.org/drawingml/2006/main">
              <a:ext uri="{FF2B5EF4-FFF2-40B4-BE49-F238E27FC236}">
                <a16:creationId xmlns:a16="http://schemas.microsoft.com/office/drawing/2014/main" id="{BEA687E4-FE64-4941-A1CC-0F42C716EB16}"/>
              </a:ext>
            </a:extLst>
          </p:cNvPr>
          <p:cNvSpPr>
            <a:spLocks xmlns:a="http://schemas.openxmlformats.org/drawingml/2006/main" noGrp="1"/>
          </p:cNvSpPr>
          <p:nvPr/>
        </p:nvSpPr>
        <p:spPr>
          <a:xfrm xmlns:a="http://schemas.openxmlformats.org/drawingml/2006/main">
            <a:off x="457200" y="42672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14E82"/>
                </a:solidFill>
                <a:latin typeface="Arial"/>
                <a:ea typeface="Arial"/>
                <a:cs typeface="Arial"/>
              </a:defRPr>
            </a:pPr>
            <a:r>
              <a:rPr sz="1425" b="0">
                <a:solidFill>
                  <a:srgbClr val="214E82"/>
                </a:solidFill>
                <a:latin typeface="Arial"/>
                <a:ea typeface="Arial"/>
                <a:cs typeface="Arial"/>
                <a:hlinkClick xmlns:r="http://schemas.openxmlformats.org/officeDocument/2006/relationships" r:id="R79e15e7e9fa94455"/>
              </a:rPr>
              <a:t>bis.gov.in/bis-apps</a:t>
            </a:r>
          </a:p>
        </p:txBody>
      </p:sp>
      <p:sp>
        <p:nvSpPr>
          <p:cNvPr id="17422" name="BIS laboratory search">
            <a:extLst xmlns:a="http://schemas.openxmlformats.org/drawingml/2006/main">
              <a:ext uri="{FF2B5EF4-FFF2-40B4-BE49-F238E27FC236}">
                <a16:creationId xmlns:a16="http://schemas.microsoft.com/office/drawing/2014/main" id="{8E03EB1A-5141-45BC-8166-5529DC65E0ED}"/>
              </a:ext>
            </a:extLst>
          </p:cNvPr>
          <p:cNvSpPr>
            <a:spLocks xmlns:a="http://schemas.openxmlformats.org/drawingml/2006/main" noGrp="1"/>
          </p:cNvSpPr>
          <p:nvPr/>
        </p:nvSpPr>
        <p:spPr>
          <a:xfrm xmlns:a="http://schemas.openxmlformats.org/drawingml/2006/main">
            <a:off x="4572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BIS laboratory search</a:t>
            </a:r>
          </a:p>
        </p:txBody>
      </p:sp>
      <p:sp>
        <p:nvSpPr>
          <p:cNvPr id="17423" name="Authoritative route for laboratory information">
            <a:extLst xmlns:a="http://schemas.openxmlformats.org/drawingml/2006/main">
              <a:ext uri="{FF2B5EF4-FFF2-40B4-BE49-F238E27FC236}">
                <a16:creationId xmlns:a16="http://schemas.microsoft.com/office/drawing/2014/main" id="{972333FA-ABDC-4991-97F1-EB79F677F4BE}"/>
              </a:ext>
            </a:extLst>
          </p:cNvPr>
          <p:cNvSpPr>
            <a:spLocks xmlns:a="http://schemas.openxmlformats.org/drawingml/2006/main" noGrp="1"/>
          </p:cNvSpPr>
          <p:nvPr/>
        </p:nvSpPr>
        <p:spPr>
          <a:xfrm xmlns:a="http://schemas.openxmlformats.org/drawingml/2006/main">
            <a:off x="457200" y="50292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538"/>
                </a:solidFill>
                <a:latin typeface="Arial"/>
                <a:ea typeface="Arial"/>
                <a:cs typeface="Arial"/>
              </a:defRPr>
            </a:pPr>
            <a:r>
              <a:rPr sz="1575" b="0">
                <a:solidFill>
                  <a:srgbClr val="172538"/>
                </a:solidFill>
                <a:latin typeface="Arial"/>
                <a:ea typeface="Arial"/>
                <a:cs typeface="Arial"/>
              </a:rPr>
              <a:t>Authoritative route for laboratory information</a:t>
            </a:r>
          </a:p>
        </p:txBody>
      </p:sp>
      <p:sp>
        <p:nvSpPr>
          <p:cNvPr id="17424" name="lims.bis.gov.in/home/search_is_number">
            <a:extLst xmlns:a="http://schemas.openxmlformats.org/drawingml/2006/main">
              <a:ext uri="{FF2B5EF4-FFF2-40B4-BE49-F238E27FC236}">
                <a16:creationId xmlns:a16="http://schemas.microsoft.com/office/drawing/2014/main" id="{C7C7D111-008C-4CDD-A3DE-05E8A760DD4B}"/>
              </a:ext>
            </a:extLst>
          </p:cNvPr>
          <p:cNvSpPr>
            <a:spLocks xmlns:a="http://schemas.openxmlformats.org/drawingml/2006/main" noGrp="1"/>
          </p:cNvSpPr>
          <p:nvPr/>
        </p:nvSpPr>
        <p:spPr>
          <a:xfrm xmlns:a="http://schemas.openxmlformats.org/drawingml/2006/main">
            <a:off x="457200" y="553402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14E82"/>
                </a:solidFill>
                <a:latin typeface="Arial"/>
                <a:ea typeface="Arial"/>
                <a:cs typeface="Arial"/>
              </a:defRPr>
            </a:pPr>
            <a:r>
              <a:rPr sz="1425" b="0">
                <a:solidFill>
                  <a:srgbClr val="214E82"/>
                </a:solidFill>
                <a:latin typeface="Arial"/>
                <a:ea typeface="Arial"/>
                <a:cs typeface="Arial"/>
                <a:hlinkClick xmlns:r="http://schemas.openxmlformats.org/officeDocument/2006/relationships" r:id="R2877e77d4bf842fd"/>
              </a:rPr>
              <a:t>lims.bis.gov.in/home/search_is_number</a:t>
            </a:r>
          </a:p>
        </p:txBody>
      </p:sp>
      <p:sp>
        <p:nvSpPr>
          <p:cNvPr id="17425" name="Lewis et al., 2020">
            <a:extLst xmlns:a="http://schemas.openxmlformats.org/drawingml/2006/main">
              <a:ext uri="{FF2B5EF4-FFF2-40B4-BE49-F238E27FC236}">
                <a16:creationId xmlns:a16="http://schemas.microsoft.com/office/drawing/2014/main" id="{FAAB8D97-312E-4E65-88B1-EE3A3956B2CA}"/>
              </a:ext>
            </a:extLst>
          </p:cNvPr>
          <p:cNvSpPr>
            <a:spLocks xmlns:a="http://schemas.openxmlformats.org/drawingml/2006/main" noGrp="1"/>
          </p:cNvSpPr>
          <p:nvPr/>
        </p:nvSpPr>
        <p:spPr>
          <a:xfrm xmlns:a="http://schemas.openxmlformats.org/drawingml/2006/main">
            <a:off x="6343650" y="208597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Lewis et al., 2020</a:t>
            </a:r>
          </a:p>
        </p:txBody>
      </p:sp>
      <p:sp>
        <p:nvSpPr>
          <p:cNvPr id="17426" name="Retrieval-Augmented Generation for Knowledge-Inten">
            <a:extLst xmlns:a="http://schemas.openxmlformats.org/drawingml/2006/main">
              <a:ext uri="{FF2B5EF4-FFF2-40B4-BE49-F238E27FC236}">
                <a16:creationId xmlns:a16="http://schemas.microsoft.com/office/drawing/2014/main" id="{C4D908D6-F0E1-4FC2-9ABA-4788F4164414}"/>
              </a:ext>
            </a:extLst>
          </p:cNvPr>
          <p:cNvSpPr>
            <a:spLocks xmlns:a="http://schemas.openxmlformats.org/drawingml/2006/main" noGrp="1"/>
          </p:cNvSpPr>
          <p:nvPr/>
        </p:nvSpPr>
        <p:spPr>
          <a:xfrm xmlns:a="http://schemas.openxmlformats.org/drawingml/2006/main">
            <a:off x="6343650" y="24955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538"/>
                </a:solidFill>
                <a:latin typeface="Arial"/>
                <a:ea typeface="Arial"/>
                <a:cs typeface="Arial"/>
              </a:defRPr>
            </a:pPr>
            <a:r>
              <a:rPr sz="1575" b="0">
                <a:solidFill>
                  <a:srgbClr val="172538"/>
                </a:solidFill>
                <a:latin typeface="Arial"/>
                <a:ea typeface="Arial"/>
                <a:cs typeface="Arial"/>
              </a:rPr>
              <a:t>Retrieval-Augmented Generation for Knowledge-Intensive NLP Tasks</a:t>
            </a:r>
          </a:p>
        </p:txBody>
      </p:sp>
      <p:sp>
        <p:nvSpPr>
          <p:cNvPr id="17427" name="arxiv.org/abs/2005.11401">
            <a:extLst xmlns:a="http://schemas.openxmlformats.org/drawingml/2006/main">
              <a:ext uri="{FF2B5EF4-FFF2-40B4-BE49-F238E27FC236}">
                <a16:creationId xmlns:a16="http://schemas.microsoft.com/office/drawing/2014/main" id="{988816DA-D04A-4824-AF47-CA21B1BCEC0E}"/>
              </a:ext>
            </a:extLst>
          </p:cNvPr>
          <p:cNvSpPr>
            <a:spLocks xmlns:a="http://schemas.openxmlformats.org/drawingml/2006/main" noGrp="1"/>
          </p:cNvSpPr>
          <p:nvPr/>
        </p:nvSpPr>
        <p:spPr>
          <a:xfrm xmlns:a="http://schemas.openxmlformats.org/drawingml/2006/main">
            <a:off x="6343650" y="30003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14E82"/>
                </a:solidFill>
                <a:latin typeface="Arial"/>
                <a:ea typeface="Arial"/>
                <a:cs typeface="Arial"/>
              </a:defRPr>
            </a:pPr>
            <a:r>
              <a:rPr sz="1425" b="0">
                <a:solidFill>
                  <a:srgbClr val="214E82"/>
                </a:solidFill>
                <a:latin typeface="Arial"/>
                <a:ea typeface="Arial"/>
                <a:cs typeface="Arial"/>
                <a:hlinkClick xmlns:r="http://schemas.openxmlformats.org/officeDocument/2006/relationships" r:id="R2c5027949f6e46f2"/>
              </a:rPr>
              <a:t>arxiv.org/abs/2005.11401</a:t>
            </a:r>
          </a:p>
        </p:txBody>
      </p:sp>
      <p:sp>
        <p:nvSpPr>
          <p:cNvPr id="17428" name="Project implementation">
            <a:extLst xmlns:a="http://schemas.openxmlformats.org/drawingml/2006/main">
              <a:ext uri="{FF2B5EF4-FFF2-40B4-BE49-F238E27FC236}">
                <a16:creationId xmlns:a16="http://schemas.microsoft.com/office/drawing/2014/main" id="{840301CE-7C40-4D87-B827-7FEFF502CD71}"/>
              </a:ext>
            </a:extLst>
          </p:cNvPr>
          <p:cNvSpPr>
            <a:spLocks xmlns:a="http://schemas.openxmlformats.org/drawingml/2006/main" noGrp="1"/>
          </p:cNvSpPr>
          <p:nvPr/>
        </p:nvSpPr>
        <p:spPr>
          <a:xfrm xmlns:a="http://schemas.openxmlformats.org/drawingml/2006/main">
            <a:off x="6343650" y="33528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Project implementation</a:t>
            </a:r>
          </a:p>
        </p:txBody>
      </p:sp>
      <p:sp>
        <p:nvSpPr>
          <p:cNvPr id="17429" name="Source code, curated records and test suite">
            <a:extLst xmlns:a="http://schemas.openxmlformats.org/drawingml/2006/main">
              <a:ext uri="{FF2B5EF4-FFF2-40B4-BE49-F238E27FC236}">
                <a16:creationId xmlns:a16="http://schemas.microsoft.com/office/drawing/2014/main" id="{9F65F389-6662-49E5-B783-868EDF71EB3F}"/>
              </a:ext>
            </a:extLst>
          </p:cNvPr>
          <p:cNvSpPr>
            <a:spLocks xmlns:a="http://schemas.openxmlformats.org/drawingml/2006/main" noGrp="1"/>
          </p:cNvSpPr>
          <p:nvPr/>
        </p:nvSpPr>
        <p:spPr>
          <a:xfrm xmlns:a="http://schemas.openxmlformats.org/drawingml/2006/main">
            <a:off x="6343650" y="37623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538"/>
                </a:solidFill>
                <a:latin typeface="Arial"/>
                <a:ea typeface="Arial"/>
                <a:cs typeface="Arial"/>
              </a:defRPr>
            </a:pPr>
            <a:r>
              <a:rPr sz="1575" b="0">
                <a:solidFill>
                  <a:srgbClr val="172538"/>
                </a:solidFill>
                <a:latin typeface="Arial"/>
                <a:ea typeface="Arial"/>
                <a:cs typeface="Arial"/>
              </a:rPr>
              <a:t>Source code, curated records and test suite</a:t>
            </a:r>
          </a:p>
        </p:txBody>
      </p:sp>
      <p:sp>
        <p:nvSpPr>
          <p:cNvPr id="17430" name="github.com/PhoenixOP231/BIS_Sahayak_SIH">
            <a:extLst xmlns:a="http://schemas.openxmlformats.org/drawingml/2006/main">
              <a:ext uri="{FF2B5EF4-FFF2-40B4-BE49-F238E27FC236}">
                <a16:creationId xmlns:a16="http://schemas.microsoft.com/office/drawing/2014/main" id="{2CFC1188-5661-4BD1-A37E-3D7358CE102D}"/>
              </a:ext>
            </a:extLst>
          </p:cNvPr>
          <p:cNvSpPr>
            <a:spLocks xmlns:a="http://schemas.openxmlformats.org/drawingml/2006/main" noGrp="1"/>
          </p:cNvSpPr>
          <p:nvPr/>
        </p:nvSpPr>
        <p:spPr>
          <a:xfrm xmlns:a="http://schemas.openxmlformats.org/drawingml/2006/main">
            <a:off x="6343650" y="42672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14E82"/>
                </a:solidFill>
                <a:latin typeface="Arial"/>
                <a:ea typeface="Arial"/>
                <a:cs typeface="Arial"/>
              </a:defRPr>
            </a:pPr>
            <a:r>
              <a:rPr sz="1425" b="0">
                <a:solidFill>
                  <a:srgbClr val="214E82"/>
                </a:solidFill>
                <a:latin typeface="Arial"/>
                <a:ea typeface="Arial"/>
                <a:cs typeface="Arial"/>
                <a:hlinkClick xmlns:r="http://schemas.openxmlformats.org/officeDocument/2006/relationships" r:id="R80306ed01d7b4fc3"/>
              </a:rPr>
              <a:t>github.com/PhoenixOP231/BIS_Sahayak_SIH</a:t>
            </a:r>
          </a:p>
        </p:txBody>
      </p:sp>
      <p:sp>
        <p:nvSpPr>
          <p:cNvPr id="17431" name="Live prototype">
            <a:extLst xmlns:a="http://schemas.openxmlformats.org/drawingml/2006/main">
              <a:ext uri="{FF2B5EF4-FFF2-40B4-BE49-F238E27FC236}">
                <a16:creationId xmlns:a16="http://schemas.microsoft.com/office/drawing/2014/main" id="{EAA32FC0-C61C-4963-9E16-64FCD137153E}"/>
              </a:ext>
            </a:extLst>
          </p:cNvPr>
          <p:cNvSpPr>
            <a:spLocks xmlns:a="http://schemas.openxmlformats.org/drawingml/2006/main" noGrp="1"/>
          </p:cNvSpPr>
          <p:nvPr/>
        </p:nvSpPr>
        <p:spPr>
          <a:xfrm xmlns:a="http://schemas.openxmlformats.org/drawingml/2006/main">
            <a:off x="634365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14E82"/>
                </a:solidFill>
                <a:latin typeface="Arial"/>
                <a:ea typeface="Arial"/>
                <a:cs typeface="Arial"/>
              </a:defRPr>
            </a:pPr>
            <a:r>
              <a:rPr sz="2025" b="1">
                <a:solidFill>
                  <a:srgbClr val="214E82"/>
                </a:solidFill>
                <a:latin typeface="Arial"/>
                <a:ea typeface="Arial"/>
                <a:cs typeface="Arial"/>
              </a:rPr>
              <a:t>Live prototype</a:t>
            </a:r>
          </a:p>
        </p:txBody>
      </p:sp>
      <p:sp>
        <p:nvSpPr>
          <p:cNvPr id="17432" name="Try a question, inspect its citation, change user ">
            <a:extLst xmlns:a="http://schemas.openxmlformats.org/drawingml/2006/main">
              <a:ext uri="{FF2B5EF4-FFF2-40B4-BE49-F238E27FC236}">
                <a16:creationId xmlns:a16="http://schemas.microsoft.com/office/drawing/2014/main" id="{28C9A1BA-80E8-42A2-A9E6-85058EBF32FD}"/>
              </a:ext>
            </a:extLst>
          </p:cNvPr>
          <p:cNvSpPr>
            <a:spLocks xmlns:a="http://schemas.openxmlformats.org/drawingml/2006/main" noGrp="1"/>
          </p:cNvSpPr>
          <p:nvPr/>
        </p:nvSpPr>
        <p:spPr>
          <a:xfrm xmlns:a="http://schemas.openxmlformats.org/drawingml/2006/main">
            <a:off x="6343650" y="50292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538"/>
                </a:solidFill>
                <a:latin typeface="Arial"/>
                <a:ea typeface="Arial"/>
                <a:cs typeface="Arial"/>
              </a:defRPr>
            </a:pPr>
            <a:r>
              <a:rPr sz="1575" b="0">
                <a:solidFill>
                  <a:srgbClr val="172538"/>
                </a:solidFill>
                <a:latin typeface="Arial"/>
                <a:ea typeface="Arial"/>
                <a:cs typeface="Arial"/>
              </a:rPr>
              <a:t>Try a question, inspect its citation, change user mode</a:t>
            </a:r>
          </a:p>
        </p:txBody>
      </p:sp>
      <p:sp>
        <p:nvSpPr>
          <p:cNvPr id="17433" name="sih2026-bis-assistant.vercel.app">
            <a:extLst xmlns:a="http://schemas.openxmlformats.org/drawingml/2006/main">
              <a:ext uri="{FF2B5EF4-FFF2-40B4-BE49-F238E27FC236}">
                <a16:creationId xmlns:a16="http://schemas.microsoft.com/office/drawing/2014/main" id="{8C2C655F-1020-4FDD-B1FD-6B53624F2552}"/>
              </a:ext>
            </a:extLst>
          </p:cNvPr>
          <p:cNvSpPr>
            <a:spLocks xmlns:a="http://schemas.openxmlformats.org/drawingml/2006/main" noGrp="1"/>
          </p:cNvSpPr>
          <p:nvPr/>
        </p:nvSpPr>
        <p:spPr>
          <a:xfrm xmlns:a="http://schemas.openxmlformats.org/drawingml/2006/main">
            <a:off x="6343650" y="553402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14E82"/>
                </a:solidFill>
                <a:latin typeface="Arial"/>
                <a:ea typeface="Arial"/>
                <a:cs typeface="Arial"/>
              </a:defRPr>
            </a:pPr>
            <a:r>
              <a:rPr sz="1425" b="0">
                <a:solidFill>
                  <a:srgbClr val="214E82"/>
                </a:solidFill>
                <a:latin typeface="Arial"/>
                <a:ea typeface="Arial"/>
                <a:cs typeface="Arial"/>
                <a:hlinkClick xmlns:r="http://schemas.openxmlformats.org/officeDocument/2006/relationships" r:id="R05a94c5c5af346df"/>
              </a:rPr>
              <a:t>sih2026-bis-assistant.vercel.app</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2026-09-26T06:55:39.8890000Z</dcterms:created>
  <dcterms:modified xsi:type="dcterms:W3CDTF">2026-09-26T06:55:39.8890000Z</dcterms:modified>
</coreProperties>
</file>