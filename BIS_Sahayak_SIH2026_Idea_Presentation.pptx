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D97706"/>
                </a:solidFill>
                <a:latin typeface="Arial"/>
              </a:defRPr>
            </a:pPr>
            <a:r>
              <a:t>BIS Sahayak (बीआईएस सहायक) 🇮🇳</a:t>
            </a:r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Problem Statement ID:</a:t>
            </a:r>
            <a:r>
              <a:rPr sz="1200" b="0">
                <a:solidFill>
                  <a:srgbClr val="1E293B"/>
                </a:solidFill>
                <a:latin typeface="Arial"/>
              </a:rPr>
              <a:t> SIH26107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Problem Statement Title:</a:t>
            </a:r>
            <a:r>
              <a:rPr sz="1200" b="0">
                <a:solidFill>
                  <a:srgbClr val="1E293B"/>
                </a:solidFill>
                <a:latin typeface="Arial"/>
              </a:rPr>
              <a:t> AI-Powered Intelligent Assistant for Indian Standards &amp; BIS Services (Consumer &amp; Industry Assistance)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Theme:</a:t>
            </a:r>
            <a:r>
              <a:rPr sz="1200" b="0">
                <a:solidFill>
                  <a:srgbClr val="1E293B"/>
                </a:solidFill>
                <a:latin typeface="Arial"/>
              </a:rPr>
              <a:t> Smart Governance, Consumer Protection &amp; GovTech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PS Category:</a:t>
            </a:r>
            <a:r>
              <a:rPr sz="1200" b="0">
                <a:solidFill>
                  <a:srgbClr val="1E293B"/>
                </a:solidFill>
                <a:latin typeface="Arial"/>
              </a:rPr>
              <a:t> Software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Project Deployment:</a:t>
            </a:r>
            <a:r>
              <a:rPr sz="1200" b="0">
                <a:solidFill>
                  <a:srgbClr val="1E293B"/>
                </a:solidFill>
                <a:latin typeface="Arial"/>
              </a:rPr>
              <a:t> https://sih2026-bis-assistant.vercel.app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GitHub Repository:</a:t>
            </a:r>
            <a:r>
              <a:rPr sz="1200" b="0">
                <a:solidFill>
                  <a:srgbClr val="1E293B"/>
                </a:solidFill>
                <a:latin typeface="Arial"/>
              </a:rPr>
              <a:t> https://github.com/PhoenixOP231/BIS_Sahayak_SIH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2000" b="1">
                <a:solidFill>
                  <a:srgbClr val="0F172A"/>
                </a:solidFill>
                <a:latin typeface="Arial"/>
              </a:defRPr>
            </a:pPr>
            <a:r>
              <a:t>IDEA TITLE &amp; 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612648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Arial"/>
              </a:defRPr>
            </a:pPr>
            <a:r>
              <a:t>BIS Sahayak: Bilingual Dual-Persona RAG Assistant &amp; 4-Step ISI Mark Verifier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12648" y="1554480"/>
            <a:ext cx="34747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731520" y="1645920"/>
            <a:ext cx="32369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1. Proposed Solution &amp; Architecture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Conversational AI Assistant grounded on 21 authentic Bureau of Indian Standards (BIS) specifications.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Zero-Hallucination Hybrid RAG: 768-dim dense vectors + cosine similarity + lexical token matching.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Instant Structured Output: Delivers 2-sentence crisp summary, key takeaways, and expandable technical clauses.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100% Bilingual Support: Seamless real-time switching between English &amp; Devanagari Hindi with Web Speech audio.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343400" y="1554480"/>
            <a:ext cx="34747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4462272" y="1645920"/>
            <a:ext cx="32369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2. How It Addresses The Problem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Consumer Mode: Plain language safety guidance, counterfeit warnings, buying checklists (cookers, helmets, water, toys).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Industry / MSME Mode: Numerical test limits, acceptance criteria, conformity schemes, and mandatory QCO gazette orders.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Interactive Clause Drawer: Clickable citation chips allow instant clause inspection without leaving conversation.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Eliminates manual browsing through 100+ page dense gazette PDF notifications.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8074152" y="1554480"/>
            <a:ext cx="34747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8193024" y="1645920"/>
            <a:ext cx="32369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3. Innovation &amp; Uniqueness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Live 4-Step ISI Authenticity Verifier: Instant 7/8-digit CM/L license format validation (/verify) with BIS Care App workflows.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Native Browser Speech Synthesis: Audio assist reads answers in natural Hindi &amp; Indian-accented English.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Resilient Offline Engine: In-memory fallback vector store + rule-based NLP ensures 100% uptime even without DB/LLM APIs.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Live Working Prototype: Fully deployed on Vercel at production readiness.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12648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Arial"/>
              </a:defRPr>
            </a:pPr>
            <a:r>
              <a:t>Technical Architecture: Multi-tier Next.js 15, Gemini 2.5 Flash &amp; pgvector Retrieval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" y="155448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777240" y="1645920"/>
            <a:ext cx="47914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Core Technology Stack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F172A"/>
                </a:solidFill>
              </a:rPr>
              <a:t>• Frontend &amp; UI:</a:t>
            </a:r>
            <a:r>
              <a:rPr b="0" sz="950">
                <a:solidFill>
                  <a:srgbClr val="1E293B"/>
                </a:solidFill>
              </a:rPr>
              <a:t> Next.js 15 (App Router), React 19, TypeScript, Tailwind CSS v4, Lucide Icons, Sonner toasts.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F172A"/>
                </a:solidFill>
              </a:rPr>
              <a:t>• AI &amp; Grounding:</a:t>
            </a:r>
            <a:r>
              <a:rPr b="0" sz="950">
                <a:solidFill>
                  <a:srgbClr val="1E293B"/>
                </a:solidFill>
              </a:rPr>
              <a:t> Google Gemini 2.5 Flash (@google/genai) with multi-turn context memory &amp; strict system prompts.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F172A"/>
                </a:solidFill>
              </a:rPr>
              <a:t>• Vector Embeddings:</a:t>
            </a:r>
            <a:r>
              <a:rPr b="0" sz="950">
                <a:solidFill>
                  <a:srgbClr val="1E293B"/>
                </a:solidFill>
              </a:rPr>
              <a:t> 768-dimensional normalized dense vectors with cosine similarity + token stop-word filtering.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F172A"/>
                </a:solidFill>
              </a:rPr>
              <a:t>• Database &amp; Vector Store:</a:t>
            </a:r>
            <a:r>
              <a:rPr b="0" sz="950">
                <a:solidFill>
                  <a:srgbClr val="1E293B"/>
                </a:solidFill>
              </a:rPr>
              <a:t> Neon Serverless PostgreSQL with pgvector extension + in-memory fallback index.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F172A"/>
                </a:solidFill>
              </a:rPr>
              <a:t>• Speech &amp; Inspection:</a:t>
            </a:r>
            <a:r>
              <a:rPr b="0" sz="950">
                <a:solidFill>
                  <a:srgbClr val="1E293B"/>
                </a:solidFill>
              </a:rPr>
              <a:t> Web Speech API (Hindi/English audio synthesis) + slide-out clause inspection drawer.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F172A"/>
                </a:solidFill>
              </a:rPr>
              <a:t>• Testing Suite:</a:t>
            </a:r>
            <a:r>
              <a:rPr b="0" sz="950">
                <a:solidFill>
                  <a:srgbClr val="1E293B"/>
                </a:solidFill>
              </a:rPr>
              <a:t> Vitest automated unit testing (10/10 passing tests across chat and vector retrieval).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989320" y="1554480"/>
            <a:ext cx="55778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6172200" y="164592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End-to-End Implementation Methodology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D97706"/>
                </a:solidFill>
              </a:rPr>
              <a:t>1. Data Ingestion &amp; Corpus Chunking:</a:t>
            </a:r>
            <a:r>
              <a:rPr b="0" sz="950">
                <a:solidFill>
                  <a:srgbClr val="1E293B"/>
                </a:solidFill>
              </a:rPr>
              <a:t> Pre-indexed 21 Indian Standards structured into Scope, Key Tests, Tolerances, Clauses, and QCO metadata.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D97706"/>
                </a:solidFill>
              </a:rPr>
              <a:t>2. Hybrid Semantic Retrieval:</a:t>
            </a:r>
            <a:r>
              <a:rPr b="0" sz="950">
                <a:solidFill>
                  <a:srgbClr val="1E293B"/>
                </a:solidFill>
              </a:rPr>
              <a:t> Incoming query is tokenized, stop-word filtered, embedded (768-dim), and matched via Cosine Sim + Lexical boost in &lt;15ms.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D97706"/>
                </a:solidFill>
              </a:rPr>
              <a:t>3. Persona-Aware Prompt Grounding:</a:t>
            </a:r>
            <a:r>
              <a:rPr b="0" sz="950">
                <a:solidFill>
                  <a:srgbClr val="1E293B"/>
                </a:solidFill>
              </a:rPr>
              <a:t> System prompt selects Consumer (plain language, fraud alerts) or Industry (numerical limits, test tables) persona.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D97706"/>
                </a:solidFill>
              </a:rPr>
              <a:t>4. Dual-Stream Response &amp; Inspection:</a:t>
            </a:r>
            <a:r>
              <a:rPr b="0" sz="950">
                <a:solidFill>
                  <a:srgbClr val="1E293B"/>
                </a:solidFill>
              </a:rPr>
              <a:t> UI delivers concise summary + expandable technical specs + clickable citation chips linked to clause inspector + voice assist.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12648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Arial"/>
              </a:defRPr>
            </a:pPr>
            <a:r>
              <a:t>Feasibility &amp; Risk Mitigation: Live Working Prototype with Zero Hallucination Grounding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" y="1554480"/>
            <a:ext cx="34747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731520" y="1645920"/>
            <a:ext cx="32369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E3A8A"/>
                </a:solidFill>
              </a:defRPr>
            </a:pPr>
            <a:r>
              <a:t>1. Feasibility Analysis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Operational Prototype: Fully deployed on Vercel with sub-second response times.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Zero-Cost Scalability: Serverless Next.js edge functions and Neon PostgreSQL scale automatically on demand.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Offline Resilience: Built-in local vector corpus ensures full conversational support without API downtime.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Standards Compliance: Strictly adheres to official BIS Scheme-I and Ministry of Consumer Affairs guidelines.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343400" y="1554480"/>
            <a:ext cx="34747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4462272" y="1645920"/>
            <a:ext cx="32369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E3A8A"/>
                </a:solidFill>
              </a:defRPr>
            </a:pPr>
            <a:r>
              <a:t>2. Key Challenges &amp; Risks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Challenge 1 (Hallucination Risk): Risk of LLM generating incorrect testing tolerances for safety-critical goods.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Challenge 2 (Scale): Managing 20,000+ Indian Standards across multiple regional languages.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Challenge 3 (Live Verification): Dynamic manufacturer licenses expiring or being revoked in real-time.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074152" y="1554480"/>
            <a:ext cx="34747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8193024" y="1645920"/>
            <a:ext cx="32369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E3A8A"/>
                </a:solidFill>
              </a:defRPr>
            </a:pPr>
            <a:r>
              <a:t>3. Mitigation Strategies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Strategy 1: Strict prompt gating (temperature 0.3) + mandatory clause citations for source verification.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Strategy 2: Modular JSON/pgvector pipeline allowing batch ingestion of all 20,000+ standards &amp; 22 Indian languages.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Strategy 3: Direct API / webhook integration with e-BIS Manakonline &amp; BIS Care license registry database.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12648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Arial"/>
              </a:defRPr>
            </a:pPr>
            <a:r>
              <a:t>Measurable Impact: Protecting 1.4B Consumers &amp; Empowering 63M+ Indian MSMEs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" y="1554480"/>
            <a:ext cx="34747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731520" y="1645920"/>
            <a:ext cx="32369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E3A8A"/>
                </a:solidFill>
              </a:defRPr>
            </a:pPr>
            <a:r>
              <a:t>1. Target Audience Impact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1.4 Billion Consumers: Instant awareness of counterfeit goods, safety mandates (pressure cookers, packaged water, toys), and consumer rights.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63 Million MSMEs: Instant access to acceptance limits, testing parameters, and Quality Control Order compliance without costly regulatory consultants.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QA Testing Labs: Fast lookups of routine vs. type testing clauses and parameter tolerances.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343400" y="1554480"/>
            <a:ext cx="34747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4462272" y="1645920"/>
            <a:ext cx="32369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E3A8A"/>
                </a:solidFill>
              </a:defRPr>
            </a:pPr>
            <a:r>
              <a:t>2. Social &amp; Public Safety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Domestic Hazard Prevention: Drastically reduces household accidents caused by sub-standard pressure cookers, LPG cylinders, and non-FR electrical wiring.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Child Safety Assurance: Enforces compliance on toxic toy chemicals and mechanical hazards under IS 9873.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Public Health: Ensures drinking water safety parameters (pesticides, sterility) under IS 14543 and IS 10500.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074152" y="1554480"/>
            <a:ext cx="34747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8193024" y="1645920"/>
            <a:ext cx="32369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E3A8A"/>
                </a:solidFill>
              </a:defRPr>
            </a:pPr>
            <a:r>
              <a:t>3. Economic &amp; GovTech Value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'Make in India' Acceleration: Streamlines certification cycles and reduces factory audit failure rates.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Boosts BIS Care App Adoption: Direct guidance on verifying CM/L license numbers increases citizen grievance reporting.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Transparency &amp; Governance: Promotes high-integrity manufacturing and level-playing field for certified Indian enterprises.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12648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Arial"/>
              </a:defRPr>
            </a:pPr>
            <a:r>
              <a:t>Regulatory Foundation, Verified Standards Corpus &amp; Live Project Links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" y="1554480"/>
            <a:ext cx="53035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777240" y="1645920"/>
            <a:ext cx="497433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Official Acts, Orders &amp; Standards Corpus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Bureau of Indian Standards Act, 2016:</a:t>
            </a:r>
            <a:r>
              <a:rPr b="0" sz="950">
                <a:solidFill>
                  <a:srgbClr val="1E293B"/>
                </a:solidFill>
              </a:rPr>
              <a:t>  Statutory provisions under Section 16 &amp; 29 for mandatory Quality Control Orders (QCO) and punitive counterfeit penalties.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Ministry of Consumer Affairs Notifications:</a:t>
            </a:r>
            <a:r>
              <a:rPr b="0" sz="950">
                <a:solidFill>
                  <a:srgbClr val="1E293B"/>
                </a:solidFill>
              </a:rPr>
              <a:t>  Central gazette orders regulating mandatory ISI certification for domestic goods.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IS 2347:2017:</a:t>
            </a:r>
            <a:r>
              <a:rPr b="0" sz="950">
                <a:solidFill>
                  <a:srgbClr val="1E293B"/>
                </a:solidFill>
              </a:rPr>
              <a:t>  Domestic Pressure Cookers — Safety valve &amp; gasket release.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IS 14543:2024 / IS 10500:2012:</a:t>
            </a:r>
            <a:r>
              <a:rPr b="0" sz="950">
                <a:solidFill>
                  <a:srgbClr val="1E293B"/>
                </a:solidFill>
              </a:rPr>
              <a:t>  Packaged &amp; Potable Drinking Water — Pesticide residues.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IS 1786:2008:</a:t>
            </a:r>
            <a:r>
              <a:rPr b="0" sz="950">
                <a:solidFill>
                  <a:srgbClr val="1E293B"/>
                </a:solidFill>
              </a:rPr>
              <a:t>  High Strength Deformed Steel Bars Fe 500D for construction.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IS 694:2010 / IS 1293:2019:</a:t>
            </a:r>
            <a:r>
              <a:rPr b="0" sz="950">
                <a:solidFill>
                  <a:srgbClr val="1E293B"/>
                </a:solidFill>
              </a:rPr>
              <a:t>  PVC Insulated Cables &amp; Plugs / Sockets.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IS 3196:2013 / IS 9873:2019:</a:t>
            </a:r>
            <a:r>
              <a:rPr b="0" sz="950">
                <a:solidFill>
                  <a:srgbClr val="1E293B"/>
                </a:solidFill>
              </a:rPr>
              <a:t>  Low Carbon LPG Cylinders &amp; Toy Safety Regulations.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72200" y="1554480"/>
            <a:ext cx="539496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6355080" y="164592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Live Prototype Deliverables &amp; Portals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D97706"/>
                </a:solidFill>
              </a:rPr>
              <a:t>• Live Web Application:</a:t>
            </a:r>
            <a:r>
              <a:rPr b="0" sz="950">
                <a:solidFill>
                  <a:srgbClr val="1E293B"/>
                </a:solidFill>
              </a:rPr>
              <a:t>  https://sih2026-bis-assistant.vercel.app
(Fully interactive multi-turn RAG, ISI verifier, audio assist)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D97706"/>
                </a:solidFill>
              </a:rPr>
              <a:t>• GitHub Repository:</a:t>
            </a:r>
            <a:r>
              <a:rPr b="0" sz="950">
                <a:solidFill>
                  <a:srgbClr val="1E293B"/>
                </a:solidFill>
              </a:rPr>
              <a:t>  https://github.com/PhoenixOP231/BIS_Sahayak_SIH
(Open source Next.js 15, TypeScript, pgvector codebase)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D97706"/>
                </a:solidFill>
              </a:rPr>
              <a:t>• Project Handbook (PDF):</a:t>
            </a:r>
            <a:r>
              <a:rPr b="0" sz="950">
                <a:solidFill>
                  <a:srgbClr val="1E293B"/>
                </a:solidFill>
              </a:rPr>
              <a:t>  d:/SIH2026-BIS-Assistant/BIS_Sahayak_Complete_Project_Guide.pdf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D97706"/>
                </a:solidFill>
              </a:rPr>
              <a:t>• e-BIS &amp; Manakonline Portal:</a:t>
            </a:r>
            <a:r>
              <a:rPr b="0" sz="950">
                <a:solidFill>
                  <a:srgbClr val="1E293B"/>
                </a:solidFill>
              </a:rPr>
              <a:t>  https://www.services.bis.gov.in (Official standards registry)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D97706"/>
                </a:solidFill>
              </a:rPr>
              <a:t>• BIS Care Mobile App:</a:t>
            </a:r>
            <a:r>
              <a:rPr b="0" sz="950">
                <a:solidFill>
                  <a:srgbClr val="1E293B"/>
                </a:solidFill>
              </a:rPr>
              <a:t>  Google Play Store / Apple App Store (Grievance redressal)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